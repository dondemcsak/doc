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1"/>
  </p:sldMasterIdLst>
  <p:notesMasterIdLst>
    <p:notesMasterId r:id="rId21"/>
  </p:notesMasterIdLst>
  <p:sldIdLst>
    <p:sldId id="257" r:id="rId2"/>
    <p:sldId id="322" r:id="rId3"/>
    <p:sldId id="287" r:id="rId4"/>
    <p:sldId id="327" r:id="rId5"/>
    <p:sldId id="302" r:id="rId6"/>
    <p:sldId id="330" r:id="rId7"/>
    <p:sldId id="288" r:id="rId8"/>
    <p:sldId id="295" r:id="rId9"/>
    <p:sldId id="296" r:id="rId10"/>
    <p:sldId id="289" r:id="rId11"/>
    <p:sldId id="310" r:id="rId12"/>
    <p:sldId id="290" r:id="rId13"/>
    <p:sldId id="342" r:id="rId14"/>
    <p:sldId id="348" r:id="rId15"/>
    <p:sldId id="299" r:id="rId16"/>
    <p:sldId id="303" r:id="rId17"/>
    <p:sldId id="353" r:id="rId18"/>
    <p:sldId id="362" r:id="rId19"/>
    <p:sldId id="3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  <a:srgbClr val="20CE00"/>
    <a:srgbClr val="D7FFD0"/>
    <a:srgbClr val="FF0000"/>
    <a:srgbClr val="FF7A00"/>
    <a:srgbClr val="BF5C00"/>
    <a:srgbClr val="FFCA99"/>
    <a:srgbClr val="FFD5EE"/>
    <a:srgbClr val="EBEBEB"/>
    <a:srgbClr val="00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893BFC-D15E-41FD-A906-C1B7B05A23AF}" v="4" dt="2026-04-30T17:37:57.945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6" autoAdjust="0"/>
    <p:restoredTop sz="94411" autoAdjust="0"/>
  </p:normalViewPr>
  <p:slideViewPr>
    <p:cSldViewPr snapToGrid="0">
      <p:cViewPr varScale="1">
        <p:scale>
          <a:sx n="82" d="100"/>
          <a:sy n="82" d="100"/>
        </p:scale>
        <p:origin x="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94D2E-832E-4454-88B1-C6C215C9E55C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A0A09-6FA2-432A-878F-290AC51C72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3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A0A09-6FA2-432A-878F-290AC51C72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515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C988B7-FCC2-AF92-B7AA-1FD5029BD1E2}"/>
              </a:ext>
            </a:extLst>
          </p:cNvPr>
          <p:cNvGrpSpPr/>
          <p:nvPr userDrawn="1"/>
        </p:nvGrpSpPr>
        <p:grpSpPr>
          <a:xfrm>
            <a:off x="9298236" y="6300787"/>
            <a:ext cx="2847526" cy="623365"/>
            <a:chOff x="9916366" y="6300787"/>
            <a:chExt cx="2229396" cy="623365"/>
          </a:xfrm>
        </p:grpSpPr>
        <p:sp>
          <p:nvSpPr>
            <p:cNvPr id="5" name="Google Shape;9;p1">
              <a:extLst>
                <a:ext uri="{FF2B5EF4-FFF2-40B4-BE49-F238E27FC236}">
                  <a16:creationId xmlns:a16="http://schemas.microsoft.com/office/drawing/2014/main" id="{A3FF20B8-1685-35D2-309E-CD212F523982}"/>
                </a:ext>
              </a:extLst>
            </p:cNvPr>
            <p:cNvSpPr txBox="1"/>
            <p:nvPr userDrawn="1"/>
          </p:nvSpPr>
          <p:spPr>
            <a:xfrm>
              <a:off x="9916366" y="6300787"/>
              <a:ext cx="21250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chemeClr val="bg1"/>
                  </a:solidFill>
                  <a:latin typeface="Inter"/>
                  <a:ea typeface="Inter"/>
                  <a:cs typeface="Inter"/>
                  <a:sym typeface="Inter"/>
                </a:rPr>
                <a:t>Don Demcsak &amp; Ken Richard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785D60E-C0A9-829F-F573-8A70FEB1EF2C}"/>
                </a:ext>
              </a:extLst>
            </p:cNvPr>
            <p:cNvSpPr txBox="1"/>
            <p:nvPr userDrawn="1"/>
          </p:nvSpPr>
          <p:spPr>
            <a:xfrm>
              <a:off x="9916367" y="6462487"/>
              <a:ext cx="2229395" cy="461665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License: CC BY‑NC 4.0</a:t>
              </a:r>
            </a:p>
            <a:p>
              <a:pPr algn="l"/>
              <a:r>
                <a:rPr lang="en-US" sz="800" dirty="0">
                  <a:solidFill>
                    <a:schemeClr val="bg1"/>
                  </a:solidFill>
                </a:rPr>
                <a:t>Attribution: “Don Demcsak and Ken Richard”</a:t>
              </a: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1950720"/>
            <a:ext cx="8825659" cy="40690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1950720"/>
            <a:ext cx="8825659" cy="40690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B7144A-F5DE-F15F-353F-808B47C46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54954" y="1036320"/>
            <a:ext cx="8761413" cy="418011"/>
          </a:xfrm>
        </p:spPr>
        <p:txBody>
          <a:bodyPr/>
          <a:lstStyle>
            <a:lvl1pPr>
              <a:buNone/>
              <a:defRPr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sub-title</a:t>
            </a:r>
          </a:p>
        </p:txBody>
      </p:sp>
    </p:spTree>
    <p:extLst>
      <p:ext uri="{BB962C8B-B14F-4D97-AF65-F5344CB8AC3E}">
        <p14:creationId xmlns:p14="http://schemas.microsoft.com/office/powerpoint/2010/main" val="953556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2366A2-960E-505C-048F-ADAD5790768E}"/>
              </a:ext>
            </a:extLst>
          </p:cNvPr>
          <p:cNvGrpSpPr/>
          <p:nvPr userDrawn="1"/>
        </p:nvGrpSpPr>
        <p:grpSpPr>
          <a:xfrm>
            <a:off x="9298236" y="6300787"/>
            <a:ext cx="2847526" cy="623365"/>
            <a:chOff x="9916366" y="6300787"/>
            <a:chExt cx="2229396" cy="623365"/>
          </a:xfrm>
        </p:grpSpPr>
        <p:sp>
          <p:nvSpPr>
            <p:cNvPr id="6" name="Google Shape;9;p1">
              <a:extLst>
                <a:ext uri="{FF2B5EF4-FFF2-40B4-BE49-F238E27FC236}">
                  <a16:creationId xmlns:a16="http://schemas.microsoft.com/office/drawing/2014/main" id="{4C069440-FF90-59D6-10B8-AA0FCD1F38CF}"/>
                </a:ext>
              </a:extLst>
            </p:cNvPr>
            <p:cNvSpPr txBox="1"/>
            <p:nvPr userDrawn="1"/>
          </p:nvSpPr>
          <p:spPr>
            <a:xfrm>
              <a:off x="9916366" y="6300787"/>
              <a:ext cx="21250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chemeClr val="bg1"/>
                  </a:solidFill>
                  <a:latin typeface="Inter"/>
                  <a:ea typeface="Inter"/>
                  <a:cs typeface="Inter"/>
                  <a:sym typeface="Inter"/>
                </a:rPr>
                <a:t>Don Demcsak &amp; Ken Richard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3E531C8-080A-0994-4FEB-97F76AC0A37B}"/>
                </a:ext>
              </a:extLst>
            </p:cNvPr>
            <p:cNvSpPr txBox="1"/>
            <p:nvPr userDrawn="1"/>
          </p:nvSpPr>
          <p:spPr>
            <a:xfrm>
              <a:off x="9916367" y="6462487"/>
              <a:ext cx="2229395" cy="461665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License: CC BY‑NC 4.0</a:t>
              </a:r>
            </a:p>
            <a:p>
              <a:pPr algn="l"/>
              <a:r>
                <a:rPr lang="en-US" sz="800" dirty="0">
                  <a:solidFill>
                    <a:schemeClr val="bg1"/>
                  </a:solidFill>
                </a:rPr>
                <a:t>Attribution: “Don Demcsak and Ken Richard”</a:t>
              </a: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90175"/>
            <a:ext cx="9878917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072640"/>
            <a:ext cx="4825158" cy="394716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072640"/>
            <a:ext cx="4825159" cy="39471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90175"/>
            <a:ext cx="9878917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072272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2648534"/>
            <a:ext cx="4825158" cy="336908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072272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2648534"/>
            <a:ext cx="4825159" cy="336908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276975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AA4960C-AE93-1ABE-37DB-FF76B0EAF405}"/>
              </a:ext>
            </a:extLst>
          </p:cNvPr>
          <p:cNvGrpSpPr/>
          <p:nvPr userDrawn="1"/>
        </p:nvGrpSpPr>
        <p:grpSpPr>
          <a:xfrm>
            <a:off x="9298236" y="6300787"/>
            <a:ext cx="2847526" cy="623365"/>
            <a:chOff x="9916366" y="6300787"/>
            <a:chExt cx="2229396" cy="623365"/>
          </a:xfrm>
        </p:grpSpPr>
        <p:sp>
          <p:nvSpPr>
            <p:cNvPr id="4" name="Google Shape;9;p1">
              <a:extLst>
                <a:ext uri="{FF2B5EF4-FFF2-40B4-BE49-F238E27FC236}">
                  <a16:creationId xmlns:a16="http://schemas.microsoft.com/office/drawing/2014/main" id="{3F6727CA-BAFA-4FE6-7B53-32C20834CE9F}"/>
                </a:ext>
              </a:extLst>
            </p:cNvPr>
            <p:cNvSpPr txBox="1"/>
            <p:nvPr userDrawn="1"/>
          </p:nvSpPr>
          <p:spPr>
            <a:xfrm>
              <a:off x="9916366" y="6300787"/>
              <a:ext cx="21250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chemeClr val="bg1"/>
                  </a:solidFill>
                  <a:latin typeface="Inter"/>
                  <a:ea typeface="Inter"/>
                  <a:cs typeface="Inter"/>
                  <a:sym typeface="Inter"/>
                </a:rPr>
                <a:t>Don Demcsak &amp; Ken Richard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EC75AC-1B89-6763-D225-7E58948441B2}"/>
                </a:ext>
              </a:extLst>
            </p:cNvPr>
            <p:cNvSpPr txBox="1"/>
            <p:nvPr userDrawn="1"/>
          </p:nvSpPr>
          <p:spPr>
            <a:xfrm>
              <a:off x="9916367" y="6462487"/>
              <a:ext cx="2229395" cy="461665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License: CC BY‑NC 4.0</a:t>
              </a:r>
            </a:p>
            <a:p>
              <a:pPr algn="l"/>
              <a:r>
                <a:rPr lang="en-US" sz="800" dirty="0">
                  <a:solidFill>
                    <a:schemeClr val="bg1"/>
                  </a:solidFill>
                </a:rPr>
                <a:t>Attribution: “Don Demcsak and Ken Richard”</a:t>
              </a: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503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3F4934-26DA-8C02-7606-AA679D5A907C}"/>
              </a:ext>
            </a:extLst>
          </p:cNvPr>
          <p:cNvGrpSpPr/>
          <p:nvPr userDrawn="1"/>
        </p:nvGrpSpPr>
        <p:grpSpPr>
          <a:xfrm>
            <a:off x="9298236" y="6300787"/>
            <a:ext cx="2847526" cy="623365"/>
            <a:chOff x="9916366" y="6300787"/>
            <a:chExt cx="2229396" cy="623365"/>
          </a:xfrm>
        </p:grpSpPr>
        <p:sp>
          <p:nvSpPr>
            <p:cNvPr id="7" name="Google Shape;9;p1">
              <a:extLst>
                <a:ext uri="{FF2B5EF4-FFF2-40B4-BE49-F238E27FC236}">
                  <a16:creationId xmlns:a16="http://schemas.microsoft.com/office/drawing/2014/main" id="{B82EFD7F-573F-D0DD-BCB0-F20B359F9878}"/>
                </a:ext>
              </a:extLst>
            </p:cNvPr>
            <p:cNvSpPr txBox="1"/>
            <p:nvPr userDrawn="1"/>
          </p:nvSpPr>
          <p:spPr>
            <a:xfrm>
              <a:off x="9916366" y="6300787"/>
              <a:ext cx="21250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chemeClr val="bg1"/>
                  </a:solidFill>
                  <a:latin typeface="Inter"/>
                  <a:ea typeface="Inter"/>
                  <a:cs typeface="Inter"/>
                  <a:sym typeface="Inter"/>
                </a:rPr>
                <a:t>Don Demcsak &amp; Ken Richard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7AA2325-D88F-D48F-D492-764FA99C91D7}"/>
                </a:ext>
              </a:extLst>
            </p:cNvPr>
            <p:cNvSpPr txBox="1"/>
            <p:nvPr userDrawn="1"/>
          </p:nvSpPr>
          <p:spPr>
            <a:xfrm>
              <a:off x="9916367" y="6462487"/>
              <a:ext cx="2229395" cy="461665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License: CC BY‑NC 4.0</a:t>
              </a:r>
            </a:p>
            <a:p>
              <a:pPr algn="l"/>
              <a:r>
                <a:rPr lang="en-US" sz="800" dirty="0">
                  <a:solidFill>
                    <a:schemeClr val="bg1"/>
                  </a:solidFill>
                </a:rPr>
                <a:t>Attribution: “Don Demcsak and Ken Richard”</a:t>
              </a: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A80F6A-DB3D-F2B7-0738-31439A7EF685}"/>
              </a:ext>
            </a:extLst>
          </p:cNvPr>
          <p:cNvGrpSpPr/>
          <p:nvPr userDrawn="1"/>
        </p:nvGrpSpPr>
        <p:grpSpPr>
          <a:xfrm>
            <a:off x="9298236" y="6300787"/>
            <a:ext cx="2847526" cy="623365"/>
            <a:chOff x="9916366" y="6300787"/>
            <a:chExt cx="2229396" cy="623365"/>
          </a:xfrm>
        </p:grpSpPr>
        <p:sp>
          <p:nvSpPr>
            <p:cNvPr id="7" name="Google Shape;9;p1">
              <a:extLst>
                <a:ext uri="{FF2B5EF4-FFF2-40B4-BE49-F238E27FC236}">
                  <a16:creationId xmlns:a16="http://schemas.microsoft.com/office/drawing/2014/main" id="{B5A43C6A-4818-B022-D098-E4F015074FBE}"/>
                </a:ext>
              </a:extLst>
            </p:cNvPr>
            <p:cNvSpPr txBox="1"/>
            <p:nvPr userDrawn="1"/>
          </p:nvSpPr>
          <p:spPr>
            <a:xfrm>
              <a:off x="9916366" y="6300787"/>
              <a:ext cx="21250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chemeClr val="bg1"/>
                  </a:solidFill>
                  <a:latin typeface="Inter"/>
                  <a:ea typeface="Inter"/>
                  <a:cs typeface="Inter"/>
                  <a:sym typeface="Inter"/>
                </a:rPr>
                <a:t>Don Demcsak &amp; Ken Richard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6FA4DDF-3FEF-3ABC-7547-B2531C666669}"/>
                </a:ext>
              </a:extLst>
            </p:cNvPr>
            <p:cNvSpPr txBox="1"/>
            <p:nvPr userDrawn="1"/>
          </p:nvSpPr>
          <p:spPr>
            <a:xfrm>
              <a:off x="9916367" y="6462487"/>
              <a:ext cx="2229395" cy="461665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License: CC BY‑NC 4.0</a:t>
              </a:r>
            </a:p>
            <a:p>
              <a:pPr algn="l"/>
              <a:r>
                <a:rPr lang="en-US" sz="800" dirty="0">
                  <a:solidFill>
                    <a:schemeClr val="bg1"/>
                  </a:solidFill>
                </a:rPr>
                <a:t>Attribution: “Don Demcsak and Ken Richard”</a:t>
              </a: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14C195-B039-CDB3-4544-D3B145780E8A}"/>
              </a:ext>
            </a:extLst>
          </p:cNvPr>
          <p:cNvGrpSpPr/>
          <p:nvPr userDrawn="1"/>
        </p:nvGrpSpPr>
        <p:grpSpPr>
          <a:xfrm>
            <a:off x="9298236" y="6300787"/>
            <a:ext cx="2847526" cy="623365"/>
            <a:chOff x="9916366" y="6300787"/>
            <a:chExt cx="2229396" cy="623365"/>
          </a:xfrm>
        </p:grpSpPr>
        <p:sp>
          <p:nvSpPr>
            <p:cNvPr id="6" name="Google Shape;9;p1">
              <a:extLst>
                <a:ext uri="{FF2B5EF4-FFF2-40B4-BE49-F238E27FC236}">
                  <a16:creationId xmlns:a16="http://schemas.microsoft.com/office/drawing/2014/main" id="{FA191BED-643E-D548-8ADD-5F6D1E5676A1}"/>
                </a:ext>
              </a:extLst>
            </p:cNvPr>
            <p:cNvSpPr txBox="1"/>
            <p:nvPr userDrawn="1"/>
          </p:nvSpPr>
          <p:spPr>
            <a:xfrm>
              <a:off x="9916366" y="6300787"/>
              <a:ext cx="21250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chemeClr val="bg1"/>
                  </a:solidFill>
                  <a:latin typeface="Inter"/>
                  <a:ea typeface="Inter"/>
                  <a:cs typeface="Inter"/>
                  <a:sym typeface="Inter"/>
                </a:rPr>
                <a:t>Don Demcsak &amp; Ken Richard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52AEC0-2F58-3D6B-E081-E24F182B8DE3}"/>
                </a:ext>
              </a:extLst>
            </p:cNvPr>
            <p:cNvSpPr txBox="1"/>
            <p:nvPr userDrawn="1"/>
          </p:nvSpPr>
          <p:spPr>
            <a:xfrm>
              <a:off x="9916367" y="6462487"/>
              <a:ext cx="2229395" cy="461665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License: CC BY‑NC 4.0</a:t>
              </a:r>
            </a:p>
            <a:p>
              <a:pPr algn="l"/>
              <a:r>
                <a:rPr lang="en-US" sz="800" dirty="0">
                  <a:solidFill>
                    <a:schemeClr val="bg1"/>
                  </a:solidFill>
                </a:rPr>
                <a:t>Attribution: “Don Demcsak and Ken Richard”</a:t>
              </a: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54FF09-F7DD-21BA-7603-5CB34D3B509C}"/>
              </a:ext>
            </a:extLst>
          </p:cNvPr>
          <p:cNvGrpSpPr/>
          <p:nvPr userDrawn="1"/>
        </p:nvGrpSpPr>
        <p:grpSpPr>
          <a:xfrm>
            <a:off x="9298236" y="6300787"/>
            <a:ext cx="2847526" cy="623365"/>
            <a:chOff x="9916366" y="6300787"/>
            <a:chExt cx="2229396" cy="623365"/>
          </a:xfrm>
        </p:grpSpPr>
        <p:sp>
          <p:nvSpPr>
            <p:cNvPr id="4" name="Google Shape;9;p1">
              <a:extLst>
                <a:ext uri="{FF2B5EF4-FFF2-40B4-BE49-F238E27FC236}">
                  <a16:creationId xmlns:a16="http://schemas.microsoft.com/office/drawing/2014/main" id="{EB75AD30-4384-82C7-7CCC-D323E2F95CC8}"/>
                </a:ext>
              </a:extLst>
            </p:cNvPr>
            <p:cNvSpPr txBox="1"/>
            <p:nvPr userDrawn="1"/>
          </p:nvSpPr>
          <p:spPr>
            <a:xfrm>
              <a:off x="9916366" y="6300787"/>
              <a:ext cx="21250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chemeClr val="bg1"/>
                  </a:solidFill>
                  <a:latin typeface="Inter"/>
                  <a:ea typeface="Inter"/>
                  <a:cs typeface="Inter"/>
                  <a:sym typeface="Inter"/>
                </a:rPr>
                <a:t>Don Demcsak &amp; Ken Richard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6DFF71-02DD-51B0-6196-08962360DC34}"/>
                </a:ext>
              </a:extLst>
            </p:cNvPr>
            <p:cNvSpPr txBox="1"/>
            <p:nvPr userDrawn="1"/>
          </p:nvSpPr>
          <p:spPr>
            <a:xfrm>
              <a:off x="9916367" y="6462487"/>
              <a:ext cx="2229395" cy="461665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License: CC BY‑NC 4.0</a:t>
              </a:r>
            </a:p>
            <a:p>
              <a:pPr algn="l"/>
              <a:r>
                <a:rPr lang="en-US" sz="800" dirty="0">
                  <a:solidFill>
                    <a:schemeClr val="bg1"/>
                  </a:solidFill>
                </a:rPr>
                <a:t>Attribution: “Don Demcsak and Ken Richard”</a:t>
              </a: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F50B6C-EFC5-9781-E032-C17CDE964404}"/>
              </a:ext>
            </a:extLst>
          </p:cNvPr>
          <p:cNvGrpSpPr/>
          <p:nvPr userDrawn="1"/>
        </p:nvGrpSpPr>
        <p:grpSpPr>
          <a:xfrm>
            <a:off x="9298236" y="6300787"/>
            <a:ext cx="2847526" cy="623365"/>
            <a:chOff x="9916366" y="6300787"/>
            <a:chExt cx="2229396" cy="623365"/>
          </a:xfrm>
        </p:grpSpPr>
        <p:sp>
          <p:nvSpPr>
            <p:cNvPr id="6" name="Google Shape;9;p1">
              <a:extLst>
                <a:ext uri="{FF2B5EF4-FFF2-40B4-BE49-F238E27FC236}">
                  <a16:creationId xmlns:a16="http://schemas.microsoft.com/office/drawing/2014/main" id="{1BB4D221-BFAC-F5A6-2468-F6BCC3749049}"/>
                </a:ext>
              </a:extLst>
            </p:cNvPr>
            <p:cNvSpPr txBox="1"/>
            <p:nvPr userDrawn="1"/>
          </p:nvSpPr>
          <p:spPr>
            <a:xfrm>
              <a:off x="9916366" y="6300787"/>
              <a:ext cx="21250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chemeClr val="bg1"/>
                  </a:solidFill>
                  <a:latin typeface="Inter"/>
                  <a:ea typeface="Inter"/>
                  <a:cs typeface="Inter"/>
                  <a:sym typeface="Inter"/>
                </a:rPr>
                <a:t>Don Demcsak &amp; Ken Richard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050E90-79B0-665A-C437-F798165F576F}"/>
                </a:ext>
              </a:extLst>
            </p:cNvPr>
            <p:cNvSpPr txBox="1"/>
            <p:nvPr userDrawn="1"/>
          </p:nvSpPr>
          <p:spPr>
            <a:xfrm>
              <a:off x="9916367" y="6462487"/>
              <a:ext cx="2229395" cy="461665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License: CC BY‑NC 4.0</a:t>
              </a:r>
            </a:p>
            <a:p>
              <a:pPr algn="l"/>
              <a:r>
                <a:rPr lang="en-US" sz="800" dirty="0">
                  <a:solidFill>
                    <a:schemeClr val="bg1"/>
                  </a:solidFill>
                </a:rPr>
                <a:t>Attribution: “Don Demcsak and Ken Richard”</a:t>
              </a: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3895A-3879-38A6-A970-26BB728B8B0F}"/>
              </a:ext>
            </a:extLst>
          </p:cNvPr>
          <p:cNvSpPr txBox="1"/>
          <p:nvPr userDrawn="1"/>
        </p:nvSpPr>
        <p:spPr>
          <a:xfrm>
            <a:off x="144262" y="6334804"/>
            <a:ext cx="2900779" cy="246221"/>
          </a:xfrm>
          <a:prstGeom prst="rect">
            <a:avLst/>
          </a:prstGeom>
          <a:solidFill>
            <a:srgbClr val="0D0D0D">
              <a:alpha val="80000"/>
            </a:srgbClr>
          </a:solidFill>
        </p:spPr>
        <p:txBody>
          <a:bodyPr wrap="square">
            <a:spAutoFit/>
          </a:bodyPr>
          <a:lstStyle/>
          <a:p>
            <a:r>
              <a:rPr lang="fr-FR" sz="1000" dirty="0">
                <a:solidFill>
                  <a:schemeClr val="bg2">
                    <a:alpha val="80000"/>
                  </a:schemeClr>
                </a:solidFill>
              </a:rPr>
              <a:t>v1.6.16‑CPOSC‑ANNIV‑BUILD</a:t>
            </a:r>
            <a:endParaRPr lang="en-US" sz="1000" dirty="0">
              <a:solidFill>
                <a:schemeClr val="bg2">
                  <a:alpha val="80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E5F1954-54EE-6D62-0439-7D53DF9504AE}"/>
              </a:ext>
            </a:extLst>
          </p:cNvPr>
          <p:cNvGrpSpPr/>
          <p:nvPr userDrawn="1"/>
        </p:nvGrpSpPr>
        <p:grpSpPr>
          <a:xfrm>
            <a:off x="9298236" y="6300787"/>
            <a:ext cx="2847526" cy="623365"/>
            <a:chOff x="9916366" y="6300787"/>
            <a:chExt cx="2229396" cy="623365"/>
          </a:xfrm>
        </p:grpSpPr>
        <p:sp>
          <p:nvSpPr>
            <p:cNvPr id="6" name="Google Shape;9;p1">
              <a:extLst>
                <a:ext uri="{FF2B5EF4-FFF2-40B4-BE49-F238E27FC236}">
                  <a16:creationId xmlns:a16="http://schemas.microsoft.com/office/drawing/2014/main" id="{A5882915-6E52-3FA4-55E0-A6710DF3FC07}"/>
                </a:ext>
              </a:extLst>
            </p:cNvPr>
            <p:cNvSpPr txBox="1"/>
            <p:nvPr userDrawn="1"/>
          </p:nvSpPr>
          <p:spPr>
            <a:xfrm>
              <a:off x="9916366" y="6300787"/>
              <a:ext cx="21250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chemeClr val="bg1"/>
                  </a:solidFill>
                  <a:latin typeface="Inter"/>
                  <a:ea typeface="Inter"/>
                  <a:cs typeface="Inter"/>
                  <a:sym typeface="Inter"/>
                </a:rPr>
                <a:t>Don Demcsak &amp; Ken Richard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34B4ED4-BA5D-BB7F-3CE0-D679228E8508}"/>
                </a:ext>
              </a:extLst>
            </p:cNvPr>
            <p:cNvSpPr txBox="1"/>
            <p:nvPr userDrawn="1"/>
          </p:nvSpPr>
          <p:spPr>
            <a:xfrm>
              <a:off x="9916367" y="6462487"/>
              <a:ext cx="2229395" cy="461665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License: CC BY‑NC 4.0</a:t>
              </a:r>
            </a:p>
            <a:p>
              <a:pPr algn="l"/>
              <a:r>
                <a:rPr lang="en-US" sz="800" dirty="0">
                  <a:solidFill>
                    <a:schemeClr val="bg1"/>
                  </a:solidFill>
                </a:rPr>
                <a:t>Attribution: “Don Demcsak and Ken Richard”</a:t>
              </a: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259540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020007"/>
            <a:ext cx="8761413" cy="39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837F193-43DA-6128-7D7C-8F2D5F673906}"/>
              </a:ext>
            </a:extLst>
          </p:cNvPr>
          <p:cNvGrpSpPr/>
          <p:nvPr userDrawn="1"/>
        </p:nvGrpSpPr>
        <p:grpSpPr>
          <a:xfrm>
            <a:off x="9298236" y="6300787"/>
            <a:ext cx="2847526" cy="623365"/>
            <a:chOff x="9916366" y="6300787"/>
            <a:chExt cx="2229396" cy="623365"/>
          </a:xfrm>
        </p:grpSpPr>
        <p:sp>
          <p:nvSpPr>
            <p:cNvPr id="7" name="Google Shape;9;p1">
              <a:extLst>
                <a:ext uri="{FF2B5EF4-FFF2-40B4-BE49-F238E27FC236}">
                  <a16:creationId xmlns:a16="http://schemas.microsoft.com/office/drawing/2014/main" id="{8633B67A-5E94-93A9-44FC-618473BB2A29}"/>
                </a:ext>
              </a:extLst>
            </p:cNvPr>
            <p:cNvSpPr txBox="1"/>
            <p:nvPr userDrawn="1"/>
          </p:nvSpPr>
          <p:spPr>
            <a:xfrm>
              <a:off x="9916366" y="6300787"/>
              <a:ext cx="21250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chemeClr val="bg1"/>
                  </a:solidFill>
                  <a:latin typeface="Inter"/>
                  <a:ea typeface="Inter"/>
                  <a:cs typeface="Inter"/>
                  <a:sym typeface="Inter"/>
                </a:rPr>
                <a:t>Don Demcsak &amp; Ken Richard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10CC9C-9E5C-A1DB-809A-6B49E0ED0817}"/>
                </a:ext>
              </a:extLst>
            </p:cNvPr>
            <p:cNvSpPr txBox="1"/>
            <p:nvPr userDrawn="1"/>
          </p:nvSpPr>
          <p:spPr>
            <a:xfrm>
              <a:off x="9916367" y="6462487"/>
              <a:ext cx="2229395" cy="461665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License: CC BY‑NC 4.0</a:t>
              </a:r>
            </a:p>
            <a:p>
              <a:pPr algn="l"/>
              <a:r>
                <a:rPr lang="en-US" sz="800" dirty="0">
                  <a:solidFill>
                    <a:schemeClr val="bg1"/>
                  </a:solidFill>
                </a:rPr>
                <a:t>Attribution: “Don Demcsak and Ken Richard”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5" r:id="rId3"/>
    <p:sldLayoutId id="2147483673" r:id="rId4"/>
    <p:sldLayoutId id="2147483652" r:id="rId5"/>
    <p:sldLayoutId id="2147483653" r:id="rId6"/>
    <p:sldLayoutId id="2147483654" r:id="rId7"/>
    <p:sldLayoutId id="2147483655" r:id="rId8"/>
    <p:sldLayoutId id="2147483674" r:id="rId9"/>
    <p:sldLayoutId id="2147483656" r:id="rId10"/>
    <p:sldLayoutId id="2147483668" r:id="rId11"/>
    <p:sldLayoutId id="2147483667" r:id="rId12"/>
    <p:sldLayoutId id="2147483661" r:id="rId13"/>
    <p:sldLayoutId id="2147483672" r:id="rId14"/>
    <p:sldLayoutId id="2147483662" r:id="rId15"/>
    <p:sldLayoutId id="2147483669" r:id="rId16"/>
    <p:sldLayoutId id="2147483670" r:id="rId17"/>
    <p:sldLayoutId id="2147483658" r:id="rId18"/>
    <p:sldLayoutId id="2147483659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1"/>
          </a:solidFill>
          <a:latin typeface="Montserrat ExtraBold" pitchFamily="2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bg1"/>
          </a:solidFill>
          <a:latin typeface="Montserrat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bg1"/>
          </a:solidFill>
          <a:latin typeface="Montserrat" pitchFamily="2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bg1"/>
          </a:solidFill>
          <a:latin typeface="Montserrat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bg1"/>
          </a:solidFill>
          <a:latin typeface="Montserrat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bg1"/>
          </a:solidFill>
          <a:latin typeface="Montserrat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vectorren.or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ondemcsak/VectorR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4F02-5E6E-EE6E-A0CE-1AFD344EE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000" y="381000"/>
            <a:ext cx="9525000" cy="2286000"/>
          </a:xfrm>
        </p:spPr>
        <p:txBody>
          <a:bodyPr/>
          <a:lstStyle/>
          <a:p>
            <a:r>
              <a:rPr lang="en-US" b="1"/>
              <a:t>Vibe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54260-C277-568E-7E51-DE6E77A7E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000" y="2921000"/>
            <a:ext cx="9525000" cy="1270000"/>
          </a:xfrm>
        </p:spPr>
        <p:txBody>
          <a:bodyPr>
            <a:noAutofit/>
          </a:bodyPr>
          <a:lstStyle/>
          <a:p>
            <a:r>
              <a:rPr lang="en-US" sz="2200" dirty="0"/>
              <a:t>From Chaos to Control: TDD, BDD &amp; SDD with AI
Don Demcsak</a:t>
            </a:r>
          </a:p>
          <a:p>
            <a:r>
              <a:rPr lang="en-US" sz="2200" dirty="0"/>
              <a:t>Ken Richard</a:t>
            </a:r>
          </a:p>
          <a:p>
            <a:endParaRPr lang="en-US" sz="2200" dirty="0"/>
          </a:p>
          <a:p>
            <a:r>
              <a:rPr lang="en-US" sz="2200" dirty="0"/>
              <a:t>Lancaster AI Symposium</a:t>
            </a:r>
          </a:p>
        </p:txBody>
      </p:sp>
    </p:spTree>
    <p:extLst>
      <p:ext uri="{BB962C8B-B14F-4D97-AF65-F5344CB8AC3E}">
        <p14:creationId xmlns:p14="http://schemas.microsoft.com/office/powerpoint/2010/main" val="128197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0CD890-BFD2-46F3-8C0B-2DB9CE7FC419}"/>
              </a:ext>
            </a:extLst>
          </p:cNvPr>
          <p:cNvSpPr txBox="1"/>
          <p:nvPr/>
        </p:nvSpPr>
        <p:spPr>
          <a:xfrm>
            <a:off x="508000" y="101600"/>
            <a:ext cx="1117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is Vibe Coding?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F31BE-B213-4469-9AE8-F6A2DFFCF486}"/>
              </a:ext>
            </a:extLst>
          </p:cNvPr>
          <p:cNvSpPr txBox="1"/>
          <p:nvPr/>
        </p:nvSpPr>
        <p:spPr>
          <a:xfrm>
            <a:off x="508000" y="1092200"/>
            <a:ext cx="11176000" cy="1143000"/>
          </a:xfrm>
          <a:prstGeom prst="rect">
            <a:avLst/>
          </a:prstGeom>
          <a:noFill/>
        </p:spPr>
        <p:txBody>
          <a:bodyPr vertOverflow="overflow" vert="horz" wrap="square" tIns="80000" bIns="80000" rtlCol="0" anchor="t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 dirty="0">
                <a:solidFill>
                  <a:srgbClr val="FFD300"/>
                </a:solidFill>
              </a:rPr>
              <a:t>→ </a:t>
            </a:r>
            <a:r>
              <a:rPr lang="en-US" sz="2000" dirty="0">
                <a:solidFill>
                  <a:srgbClr val="FFFFFF"/>
                </a:solidFill>
              </a:rPr>
              <a:t>Prompting AI without structure or constraints</a:t>
            </a:r>
          </a:p>
          <a:p>
            <a:pPr>
              <a:spcBef>
                <a:spcPts val="300"/>
              </a:spcBef>
              <a:buNone/>
            </a:pPr>
            <a:r>
              <a:rPr lang="en-US" sz="2000" dirty="0">
                <a:solidFill>
                  <a:srgbClr val="FFD300"/>
                </a:solidFill>
              </a:rPr>
              <a:t>→ </a:t>
            </a:r>
            <a:r>
              <a:rPr lang="en-US" sz="2000" dirty="0">
                <a:solidFill>
                  <a:srgbClr val="FFFFFF"/>
                </a:solidFill>
              </a:rPr>
              <a:t>Trusting AI output without verification</a:t>
            </a:r>
          </a:p>
          <a:p>
            <a:pPr>
              <a:spcBef>
                <a:spcPts val="300"/>
              </a:spcBef>
              <a:buNone/>
            </a:pPr>
            <a:r>
              <a:rPr lang="en-US" sz="2000" dirty="0">
                <a:solidFill>
                  <a:srgbClr val="FFD300"/>
                </a:solidFill>
              </a:rPr>
              <a:t>→ </a:t>
            </a:r>
            <a:r>
              <a:rPr lang="en-US" sz="2000" dirty="0">
                <a:solidFill>
                  <a:srgbClr val="FFFFFF"/>
                </a:solidFill>
              </a:rPr>
              <a:t>Building fast — validating never</a:t>
            </a:r>
          </a:p>
        </p:txBody>
      </p:sp>
      <p:sp>
        <p:nvSpPr>
          <p:cNvPr id="10" name="DefBadge"/>
          <p:cNvSpPr>
            <a:spLocks noGrp="1"/>
          </p:cNvSpPr>
          <p:nvPr/>
        </p:nvSpPr>
        <p:spPr>
          <a:xfrm>
            <a:off x="508000" y="711200"/>
            <a:ext cx="1968500" cy="330200"/>
          </a:xfrm>
          <a:prstGeom prst="roundRect">
            <a:avLst>
              <a:gd name="adj" fmla="val 30000"/>
            </a:avLst>
          </a:prstGeom>
          <a:solidFill>
            <a:srgbClr val="FFD300"/>
          </a:solidFill>
          <a:ln>
            <a:noFill/>
          </a:ln>
        </p:spPr>
        <p:txBody>
          <a:bodyPr wrap="square" lIns="60000" tIns="40000" rIns="60000" bIns="40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21212"/>
                </a:solidFill>
              </a:rPr>
              <a:t>DEFINITION</a:t>
            </a:r>
          </a:p>
        </p:txBody>
      </p:sp>
      <p:sp>
        <p:nvSpPr>
          <p:cNvPr id="11" name="ContrastCard"/>
          <p:cNvSpPr>
            <a:spLocks noGrp="1"/>
          </p:cNvSpPr>
          <p:nvPr/>
        </p:nvSpPr>
        <p:spPr>
          <a:xfrm>
            <a:off x="508000" y="3784600"/>
            <a:ext cx="11176000" cy="914400"/>
          </a:xfrm>
          <a:prstGeom prst="roundRect">
            <a:avLst>
              <a:gd name="adj" fmla="val 5000"/>
            </a:avLst>
          </a:prstGeom>
          <a:solidFill>
            <a:srgbClr val="0D0D1A"/>
          </a:solidFill>
          <a:ln w="19050">
            <a:solidFill>
              <a:srgbClr val="FF2DAA"/>
            </a:solidFill>
          </a:ln>
        </p:spPr>
        <p:txBody>
          <a:bodyPr wrap="square" lIns="182880" tIns="146304" rIns="160000" bIns="146304" anchor="ctr"/>
          <a:lstStyle/>
          <a:p>
            <a:pPr algn="l">
              <a:buNone/>
            </a:pPr>
            <a:r>
              <a:rPr lang="en-US" sz="1800" b="1" dirty="0">
                <a:solidFill>
                  <a:srgbClr val="FF2DAA"/>
                </a:solidFill>
              </a:rPr>
              <a:t>VIBING = </a:t>
            </a:r>
            <a:r>
              <a:rPr lang="en-US" sz="1600" dirty="0">
                <a:solidFill>
                  <a:srgbClr val="DDDDDD"/>
                </a:solidFill>
              </a:rPr>
              <a:t>No plan  </a:t>
            </a:r>
            <a:r>
              <a:rPr lang="en-US" sz="1600" dirty="0">
                <a:solidFill>
                  <a:srgbClr val="FF2DAA"/>
                </a:solidFill>
              </a:rPr>
              <a:t>•  </a:t>
            </a:r>
            <a:r>
              <a:rPr lang="en-US" sz="1600" dirty="0">
                <a:solidFill>
                  <a:srgbClr val="DDDDDD"/>
                </a:solidFill>
              </a:rPr>
              <a:t>No tests  </a:t>
            </a:r>
            <a:r>
              <a:rPr lang="en-US" sz="1600" dirty="0">
                <a:solidFill>
                  <a:srgbClr val="FF2DAA"/>
                </a:solidFill>
              </a:rPr>
              <a:t>•  </a:t>
            </a:r>
            <a:r>
              <a:rPr lang="en-US" sz="1600" dirty="0">
                <a:solidFill>
                  <a:srgbClr val="DDDDDD"/>
                </a:solidFill>
              </a:rPr>
              <a:t>No review  </a:t>
            </a:r>
            <a:r>
              <a:rPr lang="en-US" sz="1600" dirty="0">
                <a:solidFill>
                  <a:srgbClr val="FF2DAA"/>
                </a:solidFill>
              </a:rPr>
              <a:t>•  </a:t>
            </a:r>
            <a:r>
              <a:rPr lang="en-US" sz="1600" dirty="0">
                <a:solidFill>
                  <a:srgbClr val="DDDDDD"/>
                </a:solidFill>
              </a:rPr>
              <a:t>Ship and pray</a:t>
            </a:r>
          </a:p>
        </p:txBody>
      </p:sp>
      <p:sp>
        <p:nvSpPr>
          <p:cNvPr id="12" name="Divider"/>
          <p:cNvSpPr>
            <a:spLocks noGrp="1"/>
          </p:cNvSpPr>
          <p:nvPr/>
        </p:nvSpPr>
        <p:spPr>
          <a:xfrm>
            <a:off x="508000" y="2286000"/>
            <a:ext cx="11176000" cy="25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>
              <a:solidFill>
                <a:srgbClr val="333333"/>
              </a:solidFill>
            </a:endParaRPr>
          </a:p>
        </p:txBody>
      </p:sp>
      <p:sp>
        <p:nvSpPr>
          <p:cNvPr id="20" name="SymptomCard"/>
          <p:cNvSpPr>
            <a:spLocks noGrp="1"/>
          </p:cNvSpPr>
          <p:nvPr/>
        </p:nvSpPr>
        <p:spPr>
          <a:xfrm>
            <a:off x="508000" y="2362200"/>
            <a:ext cx="3556000" cy="987552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9050">
            <a:solidFill>
              <a:srgbClr val="39FF14"/>
            </a:solidFill>
          </a:ln>
        </p:spPr>
        <p:txBody>
          <a:bodyPr wrap="square" lIns="182880" tIns="182880" rIns="91440" bIns="91440" anchor="t"/>
          <a:lstStyle/>
          <a:p>
            <a:pPr algn="ctr">
              <a:buNone/>
            </a:pPr>
            <a:r>
              <a:rPr lang="en-US" sz="2200" b="1" dirty="0">
                <a:solidFill>
                  <a:srgbClr val="39FF14"/>
                </a:solidFill>
              </a:rPr>
              <a:t>Speed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400" i="1" dirty="0">
                <a:solidFill>
                  <a:srgbClr val="AAAAAA"/>
                </a:solidFill>
              </a:rPr>
              <a:t>Ships instantly</a:t>
            </a:r>
          </a:p>
        </p:txBody>
      </p:sp>
      <p:sp>
        <p:nvSpPr>
          <p:cNvPr id="21" name="SymptomCard"/>
          <p:cNvSpPr>
            <a:spLocks noGrp="1"/>
          </p:cNvSpPr>
          <p:nvPr/>
        </p:nvSpPr>
        <p:spPr>
          <a:xfrm>
            <a:off x="4318000" y="2362200"/>
            <a:ext cx="3556000" cy="987552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9050">
            <a:solidFill>
              <a:srgbClr val="00C8FF"/>
            </a:solidFill>
          </a:ln>
        </p:spPr>
        <p:txBody>
          <a:bodyPr wrap="square" lIns="182880" tIns="182880" rIns="91440" bIns="91440" anchor="t"/>
          <a:lstStyle/>
          <a:p>
            <a:pPr algn="ctr">
              <a:buNone/>
            </a:pPr>
            <a:r>
              <a:rPr lang="en-US" sz="2200" b="1" dirty="0">
                <a:solidFill>
                  <a:srgbClr val="00C8FF"/>
                </a:solidFill>
              </a:rPr>
              <a:t>Confidence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400" i="1" dirty="0">
                <a:solidFill>
                  <a:srgbClr val="AAAAAA"/>
                </a:solidFill>
              </a:rPr>
              <a:t>Sounds authoritative</a:t>
            </a:r>
          </a:p>
        </p:txBody>
      </p:sp>
      <p:sp>
        <p:nvSpPr>
          <p:cNvPr id="22" name="SymptomCard"/>
          <p:cNvSpPr>
            <a:spLocks noGrp="1"/>
          </p:cNvSpPr>
          <p:nvPr/>
        </p:nvSpPr>
        <p:spPr>
          <a:xfrm>
            <a:off x="8128000" y="2362200"/>
            <a:ext cx="3556000" cy="987552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9050">
            <a:solidFill>
              <a:srgbClr val="FF2DAA"/>
            </a:solidFill>
          </a:ln>
        </p:spPr>
        <p:txBody>
          <a:bodyPr wrap="square" lIns="182880" tIns="182880" rIns="91440" bIns="91440" anchor="t"/>
          <a:lstStyle/>
          <a:p>
            <a:pPr algn="ctr">
              <a:buNone/>
            </a:pPr>
            <a:r>
              <a:rPr lang="en-US" sz="2200" b="1" dirty="0">
                <a:solidFill>
                  <a:srgbClr val="FF2DAA"/>
                </a:solidFill>
              </a:rPr>
              <a:t>No Guardrails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400" i="1" dirty="0">
                <a:solidFill>
                  <a:srgbClr val="AAAAAA"/>
                </a:solidFill>
              </a:rPr>
              <a:t>Zero verification</a:t>
            </a:r>
          </a:p>
        </p:txBody>
      </p:sp>
      <p:sp>
        <p:nvSpPr>
          <p:cNvPr id="30" name="QuoteCallout"/>
          <p:cNvSpPr>
            <a:spLocks noGrp="1"/>
          </p:cNvSpPr>
          <p:nvPr/>
        </p:nvSpPr>
        <p:spPr>
          <a:xfrm>
            <a:off x="508000" y="4749800"/>
            <a:ext cx="11176000" cy="1117600"/>
          </a:xfrm>
          <a:prstGeom prst="roundRect">
            <a:avLst>
              <a:gd name="adj" fmla="val 8000"/>
            </a:avLst>
          </a:prstGeom>
          <a:solidFill>
            <a:srgbClr val="0A1A0A"/>
          </a:solidFill>
          <a:ln w="22860">
            <a:solidFill>
              <a:srgbClr val="39FF14"/>
            </a:solidFill>
          </a:ln>
        </p:spPr>
        <p:txBody>
          <a:bodyPr wrap="square" lIns="200000" tIns="100000" rIns="200000" bIns="100000" anchor="ctr"/>
          <a:lstStyle/>
          <a:p>
            <a:pPr algn="ctr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00C8FF"/>
                </a:solidFill>
              </a:rPr>
              <a:t>KEN:  </a:t>
            </a:r>
            <a:r>
              <a:rPr lang="en-US" sz="2000" b="1" i="1" dirty="0">
                <a:solidFill>
                  <a:srgbClr val="39FF14"/>
                </a:solidFill>
              </a:rPr>
              <a:t>"It looked right, so we shipped it."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400" i="1" dirty="0">
                <a:solidFill>
                  <a:srgbClr val="CCCCCC"/>
                </a:solidFill>
              </a:rPr>
              <a:t>— The vibe coder's motto</a:t>
            </a:r>
          </a:p>
        </p:txBody>
      </p:sp>
    </p:spTree>
    <p:extLst>
      <p:ext uri="{BB962C8B-B14F-4D97-AF65-F5344CB8AC3E}">
        <p14:creationId xmlns:p14="http://schemas.microsoft.com/office/powerpoint/2010/main" val="103769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B66035-3015-4751-8F21-6EB1A2D3BE7C}"/>
              </a:ext>
            </a:extLst>
          </p:cNvPr>
          <p:cNvSpPr txBox="1"/>
          <p:nvPr/>
        </p:nvSpPr>
        <p:spPr>
          <a:xfrm>
            <a:off x="0" y="1270000"/>
            <a:ext cx="12192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6400" b="1" dirty="0">
                <a:solidFill>
                  <a:srgbClr val="39FF14"/>
                </a:solidFill>
              </a:rPr>
              <a:t>ACT 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9FC69-53C1-4699-ABB4-FDD205F464CE}"/>
              </a:ext>
            </a:extLst>
          </p:cNvPr>
          <p:cNvSpPr txBox="1"/>
          <p:nvPr/>
        </p:nvSpPr>
        <p:spPr>
          <a:xfrm>
            <a:off x="0" y="3810000"/>
            <a:ext cx="1219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Vibe Coding a Business Outcome</a:t>
            </a:r>
          </a:p>
        </p:txBody>
      </p:sp>
    </p:spTree>
    <p:extLst>
      <p:ext uri="{BB962C8B-B14F-4D97-AF65-F5344CB8AC3E}">
        <p14:creationId xmlns:p14="http://schemas.microsoft.com/office/powerpoint/2010/main" val="1446757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FFFCBC-0C6B-404B-A8CA-86D0495F3057}"/>
              </a:ext>
            </a:extLst>
          </p:cNvPr>
          <p:cNvSpPr txBox="1"/>
          <p:nvPr/>
        </p:nvSpPr>
        <p:spPr>
          <a:xfrm>
            <a:off x="365760" y="101600"/>
            <a:ext cx="804672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000" b="1" dirty="0">
                <a:solidFill>
                  <a:srgbClr val="FFFFFF"/>
                </a:solidFill>
              </a:rPr>
              <a:t>Demo: Vibe-Coded OSHA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AD763-74C1-43F9-A252-3A11B2491243}"/>
              </a:ext>
            </a:extLst>
          </p:cNvPr>
          <p:cNvSpPr txBox="1"/>
          <p:nvPr/>
        </p:nvSpPr>
        <p:spPr>
          <a:xfrm>
            <a:off x="365759" y="889000"/>
            <a:ext cx="11411271" cy="2377574"/>
          </a:xfrm>
          <a:prstGeom prst="rect">
            <a:avLst/>
          </a:prstGeom>
          <a:noFill/>
        </p:spPr>
        <p:txBody>
          <a:bodyPr vertOverflow="clip" vert="horz" wrap="square" rtlCol="0" anchor="t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800" i="1" dirty="0">
                <a:solidFill>
                  <a:srgbClr val="00C8FF"/>
                </a:solidFill>
              </a:rPr>
              <a:t>Prompt: "Create an OSHA compliance document for a small manufacturing shop with 12 employees."</a:t>
            </a:r>
          </a:p>
          <a:p>
            <a:pPr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FFFFFF"/>
                </a:solidFill>
              </a:rPr>
              <a:t>The AI delivers:</a:t>
            </a:r>
          </a:p>
          <a:p>
            <a:pPr>
              <a:spcBef>
                <a:spcPts val="250"/>
              </a:spcBef>
              <a:buNone/>
            </a:pPr>
            <a:r>
              <a:rPr lang="en-US" sz="2000" b="1" dirty="0">
                <a:solidFill>
                  <a:srgbClr val="39FF14"/>
                </a:solidFill>
              </a:rPr>
              <a:t>✓  </a:t>
            </a:r>
            <a:r>
              <a:rPr lang="en-US" sz="2000" dirty="0">
                <a:solidFill>
                  <a:srgbClr val="FFFFFF"/>
                </a:solidFill>
              </a:rPr>
              <a:t>Beautiful formatting</a:t>
            </a:r>
          </a:p>
          <a:p>
            <a:pPr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39FF14"/>
                </a:solidFill>
              </a:rPr>
              <a:t>✓  </a:t>
            </a:r>
            <a:r>
              <a:rPr lang="en-US" sz="2000" dirty="0">
                <a:solidFill>
                  <a:srgbClr val="FFFFFF"/>
                </a:solidFill>
              </a:rPr>
              <a:t>Confident tone</a:t>
            </a:r>
          </a:p>
          <a:p>
            <a:pPr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39FF14"/>
                </a:solidFill>
              </a:rPr>
              <a:t>✓  </a:t>
            </a:r>
            <a:r>
              <a:rPr lang="en-US" sz="2000" dirty="0">
                <a:solidFill>
                  <a:srgbClr val="FFFFFF"/>
                </a:solidFill>
              </a:rPr>
              <a:t>Zero hesitation</a:t>
            </a:r>
          </a:p>
          <a:p>
            <a:pPr>
              <a:spcBef>
                <a:spcPts val="400"/>
              </a:spcBef>
              <a:buNone/>
            </a:pPr>
            <a:r>
              <a:rPr lang="en-US" sz="2000" b="1" i="1" dirty="0">
                <a:solidFill>
                  <a:srgbClr val="39FF14"/>
                </a:solidFill>
              </a:rPr>
              <a:t>Fast. Convincing. Unverified.</a:t>
            </a:r>
          </a:p>
        </p:txBody>
      </p:sp>
      <p:sp>
        <p:nvSpPr>
          <p:cNvPr id="2" name="QuoteCallout">
            <a:extLst>
              <a:ext uri="{FF2B5EF4-FFF2-40B4-BE49-F238E27FC236}">
                <a16:creationId xmlns:a16="http://schemas.microsoft.com/office/drawing/2014/main" id="{885E2B6F-E7CE-03C9-2B91-13E45BD460AE}"/>
              </a:ext>
            </a:extLst>
          </p:cNvPr>
          <p:cNvSpPr>
            <a:spLocks noGrp="1"/>
          </p:cNvSpPr>
          <p:nvPr/>
        </p:nvSpPr>
        <p:spPr>
          <a:xfrm>
            <a:off x="365760" y="3848100"/>
            <a:ext cx="11411270" cy="2070100"/>
          </a:xfrm>
          <a:prstGeom prst="roundRect">
            <a:avLst>
              <a:gd name="adj" fmla="val 10000"/>
            </a:avLst>
          </a:prstGeom>
          <a:solidFill>
            <a:srgbClr val="1A1A2E">
              <a:alpha val="90000"/>
            </a:srgbClr>
          </a:solidFill>
          <a:ln w="19050">
            <a:solidFill>
              <a:srgbClr val="FF2DAA"/>
            </a:solidFill>
          </a:ln>
        </p:spPr>
        <p:txBody>
          <a:bodyPr vertOverflow="overflow" wrap="square" lIns="182880" tIns="91440" rIns="182880" bIns="9144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3600" b="1" i="1" dirty="0">
                <a:solidFill>
                  <a:srgbClr val="FF2DAA"/>
                </a:solidFill>
              </a:rPr>
              <a:t>Google Gemini Demo</a:t>
            </a:r>
            <a:endParaRPr lang="en-US" sz="3600" i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22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765257-1077-4981-B6B4-DB956AF2FA75}"/>
              </a:ext>
            </a:extLst>
          </p:cNvPr>
          <p:cNvSpPr txBox="1"/>
          <p:nvPr/>
        </p:nvSpPr>
        <p:spPr>
          <a:xfrm>
            <a:off x="508000" y="127000"/>
            <a:ext cx="1117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000" b="1" dirty="0">
                <a:solidFill>
                  <a:srgbClr val="FFFFFF"/>
                </a:solidFill>
              </a:rPr>
              <a:t>You’re Driving. AI is Assisting.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C1D31-94C0-4D60-BFAF-B9FADB263F0B}"/>
              </a:ext>
            </a:extLst>
          </p:cNvPr>
          <p:cNvSpPr txBox="1"/>
          <p:nvPr/>
        </p:nvSpPr>
        <p:spPr>
          <a:xfrm>
            <a:off x="508000" y="952500"/>
            <a:ext cx="11176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00C8FF"/>
                </a:solidFill>
              </a:rPr>
              <a:t>➔  </a:t>
            </a:r>
            <a:r>
              <a:rPr lang="en-US" sz="2000" dirty="0">
                <a:solidFill>
                  <a:srgbClr val="FFFFFF"/>
                </a:solidFill>
              </a:rPr>
              <a:t>Expand the machine guarding section</a:t>
            </a:r>
          </a:p>
          <a:p>
            <a:pPr>
              <a:buNone/>
            </a:pPr>
            <a:r>
              <a:rPr lang="en-US" sz="2000" dirty="0">
                <a:solidFill>
                  <a:srgbClr val="00C8FF"/>
                </a:solidFill>
              </a:rPr>
              <a:t>➔  </a:t>
            </a:r>
            <a:r>
              <a:rPr lang="en-US" sz="2000" dirty="0">
                <a:solidFill>
                  <a:srgbClr val="FFFFFF"/>
                </a:solidFill>
              </a:rPr>
              <a:t>Add required training intervals</a:t>
            </a:r>
          </a:p>
          <a:p>
            <a:pPr>
              <a:buNone/>
            </a:pPr>
            <a:r>
              <a:rPr lang="en-US" sz="2000" dirty="0">
                <a:solidFill>
                  <a:srgbClr val="00C8FF"/>
                </a:solidFill>
              </a:rPr>
              <a:t>➔  </a:t>
            </a:r>
            <a:r>
              <a:rPr lang="en-US" sz="2000" dirty="0">
                <a:solidFill>
                  <a:srgbClr val="FFFFFF"/>
                </a:solidFill>
              </a:rPr>
              <a:t>Iterate and refine — one prompt at a time</a:t>
            </a:r>
          </a:p>
        </p:txBody>
      </p:sp>
      <p:sp>
        <p:nvSpPr>
          <p:cNvPr id="30" name="DiagBox"/>
          <p:cNvSpPr>
            <a:spLocks noGrp="1"/>
          </p:cNvSpPr>
          <p:nvPr/>
        </p:nvSpPr>
        <p:spPr>
          <a:xfrm>
            <a:off x="508000" y="2349500"/>
            <a:ext cx="3238500" cy="1270000"/>
          </a:xfrm>
          <a:prstGeom prst="roundRect">
            <a:avLst>
              <a:gd name="adj" fmla="val 15000"/>
            </a:avLst>
          </a:prstGeom>
          <a:solidFill>
            <a:srgbClr val="00C8FF">
              <a:alpha val="25000"/>
            </a:srgbClr>
          </a:solidFill>
          <a:ln w="25400">
            <a:solidFill>
              <a:srgbClr val="00C8FF"/>
            </a:solidFill>
          </a:ln>
        </p:spPr>
        <p:txBody>
          <a:bodyPr wrap="square" lIns="90000" tIns="60000" rIns="90000" bIns="600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00C8FF"/>
                </a:solidFill>
              </a:rPr>
              <a:t>HUMAN STEERS</a:t>
            </a:r>
          </a:p>
          <a:p>
            <a:pPr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Prompts &amp; direction</a:t>
            </a:r>
          </a:p>
        </p:txBody>
      </p:sp>
      <p:sp>
        <p:nvSpPr>
          <p:cNvPr id="31" name="DiagBox"/>
          <p:cNvSpPr>
            <a:spLocks noGrp="1"/>
          </p:cNvSpPr>
          <p:nvPr/>
        </p:nvSpPr>
        <p:spPr>
          <a:xfrm>
            <a:off x="4254500" y="2349500"/>
            <a:ext cx="3238500" cy="1270000"/>
          </a:xfrm>
          <a:prstGeom prst="roundRect">
            <a:avLst>
              <a:gd name="adj" fmla="val 15000"/>
            </a:avLst>
          </a:prstGeom>
          <a:solidFill>
            <a:srgbClr val="39FF14">
              <a:alpha val="25000"/>
            </a:srgbClr>
          </a:solidFill>
          <a:ln w="25400">
            <a:solidFill>
              <a:srgbClr val="39FF14"/>
            </a:solidFill>
          </a:ln>
        </p:spPr>
        <p:txBody>
          <a:bodyPr wrap="square" lIns="90000" tIns="60000" rIns="90000" bIns="600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39FF14"/>
                </a:solidFill>
              </a:rPr>
              <a:t>AI ASSISTS</a:t>
            </a:r>
          </a:p>
          <a:p>
            <a:pPr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Generates &amp; iterates</a:t>
            </a:r>
          </a:p>
        </p:txBody>
      </p:sp>
      <p:sp>
        <p:nvSpPr>
          <p:cNvPr id="32" name="DiagBox"/>
          <p:cNvSpPr>
            <a:spLocks noGrp="1"/>
          </p:cNvSpPr>
          <p:nvPr/>
        </p:nvSpPr>
        <p:spPr>
          <a:xfrm>
            <a:off x="8001000" y="2349500"/>
            <a:ext cx="3238500" cy="1270000"/>
          </a:xfrm>
          <a:prstGeom prst="roundRect">
            <a:avLst>
              <a:gd name="adj" fmla="val 15000"/>
            </a:avLst>
          </a:prstGeom>
          <a:solidFill>
            <a:srgbClr val="1A1000"/>
          </a:solidFill>
          <a:ln w="25400">
            <a:solidFill>
              <a:srgbClr val="FFD300"/>
            </a:solidFill>
          </a:ln>
        </p:spPr>
        <p:txBody>
          <a:bodyPr wrap="square" lIns="90000" tIns="60000" rIns="90000" bIns="600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D300"/>
                </a:solidFill>
              </a:rPr>
              <a:t>RESULT</a:t>
            </a:r>
          </a:p>
          <a:p>
            <a:pPr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Verified output</a:t>
            </a:r>
          </a:p>
        </p:txBody>
      </p:sp>
      <p:sp>
        <p:nvSpPr>
          <p:cNvPr id="33" name="Arrow"/>
          <p:cNvSpPr>
            <a:spLocks noGrp="1"/>
          </p:cNvSpPr>
          <p:nvPr/>
        </p:nvSpPr>
        <p:spPr>
          <a:xfrm>
            <a:off x="3810000" y="2794000"/>
            <a:ext cx="381000" cy="330200"/>
          </a:xfrm>
          <a:prstGeom prst="rightArrow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Arrow"/>
          <p:cNvSpPr>
            <a:spLocks noGrp="1"/>
          </p:cNvSpPr>
          <p:nvPr/>
        </p:nvSpPr>
        <p:spPr>
          <a:xfrm>
            <a:off x="7556500" y="2794000"/>
            <a:ext cx="381000" cy="330200"/>
          </a:xfrm>
          <a:prstGeom prst="rightArrow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QuoteCallout"/>
          <p:cNvSpPr>
            <a:spLocks noGrp="1"/>
          </p:cNvSpPr>
          <p:nvPr/>
        </p:nvSpPr>
        <p:spPr>
          <a:xfrm>
            <a:off x="508000" y="3911600"/>
            <a:ext cx="11176000" cy="1397000"/>
          </a:xfrm>
          <a:prstGeom prst="roundRect">
            <a:avLst>
              <a:gd name="adj" fmla="val 8000"/>
            </a:avLst>
          </a:prstGeom>
          <a:solidFill>
            <a:srgbClr val="0D0D1A"/>
          </a:solidFill>
          <a:ln w="19050">
            <a:solidFill>
              <a:srgbClr val="00C8FF"/>
            </a:solidFill>
          </a:ln>
        </p:spPr>
        <p:txBody>
          <a:bodyPr wrap="square" lIns="180000" tIns="120000" rIns="180000" bIns="120000" anchor="ctr"/>
          <a:lstStyle/>
          <a:p>
            <a:pPr algn="l">
              <a:buNone/>
            </a:pPr>
            <a:r>
              <a:rPr lang="en-US" sz="1200" b="1" dirty="0">
                <a:solidFill>
                  <a:srgbClr val="00C8FF"/>
                </a:solidFill>
              </a:rPr>
              <a:t>KEN:  </a:t>
            </a:r>
            <a:r>
              <a:rPr lang="en-US" sz="1600" i="1" dirty="0">
                <a:solidFill>
                  <a:srgbClr val="FFFFFF"/>
                </a:solidFill>
              </a:rPr>
              <a:t>"You're driving, it's assisting. Hold onto that idea — we'll come back to it."</a:t>
            </a:r>
          </a:p>
        </p:txBody>
      </p:sp>
    </p:spTree>
    <p:extLst>
      <p:ext uri="{BB962C8B-B14F-4D97-AF65-F5344CB8AC3E}">
        <p14:creationId xmlns:p14="http://schemas.microsoft.com/office/powerpoint/2010/main" val="2652934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80D817-8AC0-4CA0-AE23-1C97304A11FD}"/>
              </a:ext>
            </a:extLst>
          </p:cNvPr>
          <p:cNvSpPr txBox="1"/>
          <p:nvPr/>
        </p:nvSpPr>
        <p:spPr>
          <a:xfrm>
            <a:off x="365760" y="73152"/>
            <a:ext cx="8046720" cy="43891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Demo: AI Reviews Its Own 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DC1DB1-ECD3-42AB-B973-C5E1278CE22A}"/>
              </a:ext>
            </a:extLst>
          </p:cNvPr>
          <p:cNvSpPr txBox="1"/>
          <p:nvPr/>
        </p:nvSpPr>
        <p:spPr>
          <a:xfrm>
            <a:off x="4292600" y="1270000"/>
            <a:ext cx="3429000" cy="1727200"/>
          </a:xfrm>
          <a:prstGeom prst="rect">
            <a:avLst/>
          </a:prstGeom>
          <a:noFill/>
        </p:spPr>
        <p:txBody>
          <a:bodyPr vertOverflow="overflow" vert="horz" wrap="square" lIns="114300" tIns="91440" rIns="91440" bIns="91440" rtlCol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D300"/>
                </a:solidFill>
              </a:rPr>
              <a:t>WHAT IT WROTE:</a:t>
            </a:r>
          </a:p>
          <a:p>
            <a:pPr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39FF14"/>
                </a:solidFill>
              </a:rPr>
              <a:t>✓  </a:t>
            </a:r>
            <a:r>
              <a:rPr lang="en-US" sz="1500" dirty="0">
                <a:solidFill>
                  <a:srgbClr val="FFFFFF"/>
                </a:solidFill>
              </a:rPr>
              <a:t>OSHA compliance plan</a:t>
            </a:r>
          </a:p>
          <a:p>
            <a:pPr>
              <a:spcBef>
                <a:spcPts val="150"/>
              </a:spcBef>
              <a:buNone/>
            </a:pPr>
            <a:r>
              <a:rPr lang="en-US" sz="1500" b="1" dirty="0">
                <a:solidFill>
                  <a:srgbClr val="39FF14"/>
                </a:solidFill>
              </a:rPr>
              <a:t>✓  </a:t>
            </a:r>
            <a:r>
              <a:rPr lang="en-US" sz="1500" dirty="0">
                <a:solidFill>
                  <a:srgbClr val="FFFFFF"/>
                </a:solidFill>
              </a:rPr>
              <a:t>Formatted beautifully</a:t>
            </a:r>
          </a:p>
          <a:p>
            <a:pPr>
              <a:spcBef>
                <a:spcPts val="150"/>
              </a:spcBef>
              <a:buNone/>
            </a:pPr>
            <a:r>
              <a:rPr lang="en-US" sz="1500" b="1" dirty="0">
                <a:solidFill>
                  <a:srgbClr val="39FF14"/>
                </a:solidFill>
              </a:rPr>
              <a:t>✓  </a:t>
            </a:r>
            <a:r>
              <a:rPr lang="en-US" sz="1500" dirty="0">
                <a:solidFill>
                  <a:srgbClr val="FFFFFF"/>
                </a:solidFill>
              </a:rPr>
              <a:t>Confident, authoritative tone</a:t>
            </a:r>
          </a:p>
          <a:p>
            <a:pPr>
              <a:spcBef>
                <a:spcPts val="150"/>
              </a:spcBef>
              <a:buNone/>
            </a:pPr>
            <a:r>
              <a:rPr lang="en-US" sz="1500" b="1" dirty="0">
                <a:solidFill>
                  <a:srgbClr val="39FF14"/>
                </a:solidFill>
              </a:rPr>
              <a:t>✓  </a:t>
            </a:r>
            <a:r>
              <a:rPr lang="en-US" sz="1500" dirty="0">
                <a:solidFill>
                  <a:srgbClr val="FFFFFF"/>
                </a:solidFill>
              </a:rPr>
              <a:t>Covered machine guarding</a:t>
            </a:r>
          </a:p>
          <a:p>
            <a:pPr>
              <a:spcBef>
                <a:spcPts val="300"/>
              </a:spcBef>
              <a:buNone/>
            </a:pPr>
            <a:r>
              <a:rPr lang="en-US" sz="1400" i="1" dirty="0">
                <a:solidFill>
                  <a:srgbClr val="AAAAAA"/>
                </a:solidFill>
              </a:rPr>
              <a:t>(After you prompted it to)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E228D-769E-4689-8A27-523BDA29605E}"/>
              </a:ext>
            </a:extLst>
          </p:cNvPr>
          <p:cNvSpPr txBox="1"/>
          <p:nvPr/>
        </p:nvSpPr>
        <p:spPr>
          <a:xfrm>
            <a:off x="7823200" y="1270000"/>
            <a:ext cx="3860800" cy="1727200"/>
          </a:xfrm>
          <a:prstGeom prst="rect">
            <a:avLst/>
          </a:prstGeom>
          <a:noFill/>
        </p:spPr>
        <p:txBody>
          <a:bodyPr vertOverflow="overflow" vert="horz" wrap="square" lIns="114300" tIns="91440" rIns="91440" bIns="91440" rtlCol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2DAA"/>
                </a:solidFill>
              </a:rPr>
              <a:t>WHAT THE AUDITOR FOUND:</a:t>
            </a:r>
          </a:p>
          <a:p>
            <a:pPr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2DAA"/>
                </a:solidFill>
              </a:rPr>
              <a:t>✗  </a:t>
            </a:r>
            <a:r>
              <a:rPr lang="en-US" sz="1500" dirty="0">
                <a:solidFill>
                  <a:srgbClr val="FFFFFF"/>
                </a:solidFill>
              </a:rPr>
              <a:t>Missing hazard assessments</a:t>
            </a:r>
          </a:p>
          <a:p>
            <a:pPr>
              <a:spcBef>
                <a:spcPts val="150"/>
              </a:spcBef>
              <a:buNone/>
            </a:pPr>
            <a:r>
              <a:rPr lang="en-US" sz="1500" b="1" dirty="0">
                <a:solidFill>
                  <a:srgbClr val="FF2DAA"/>
                </a:solidFill>
              </a:rPr>
              <a:t>✗  </a:t>
            </a:r>
            <a:r>
              <a:rPr lang="en-US" sz="1500" dirty="0">
                <a:solidFill>
                  <a:srgbClr val="FFFFFF"/>
                </a:solidFill>
              </a:rPr>
              <a:t>Missing PPE requirements</a:t>
            </a:r>
          </a:p>
          <a:p>
            <a:pPr>
              <a:spcBef>
                <a:spcPts val="150"/>
              </a:spcBef>
              <a:buNone/>
            </a:pPr>
            <a:r>
              <a:rPr lang="en-US" sz="1500" b="1" dirty="0">
                <a:solidFill>
                  <a:srgbClr val="FF2DAA"/>
                </a:solidFill>
              </a:rPr>
              <a:t>✗  </a:t>
            </a:r>
            <a:r>
              <a:rPr lang="en-US" sz="1500" dirty="0">
                <a:solidFill>
                  <a:srgbClr val="FFFFFF"/>
                </a:solidFill>
              </a:rPr>
              <a:t>Missing recordkeeping</a:t>
            </a:r>
          </a:p>
          <a:p>
            <a:pPr>
              <a:spcBef>
                <a:spcPts val="150"/>
              </a:spcBef>
              <a:buNone/>
            </a:pPr>
            <a:r>
              <a:rPr lang="en-US" sz="1500" b="1" dirty="0">
                <a:solidFill>
                  <a:srgbClr val="FF2DAA"/>
                </a:solidFill>
              </a:rPr>
              <a:t>✗  </a:t>
            </a:r>
            <a:r>
              <a:rPr lang="en-US" sz="1500" dirty="0">
                <a:solidFill>
                  <a:srgbClr val="FFFFFF"/>
                </a:solidFill>
              </a:rPr>
              <a:t>Missing training documentation</a:t>
            </a:r>
          </a:p>
          <a:p>
            <a:pPr>
              <a:spcBef>
                <a:spcPts val="300"/>
              </a:spcBef>
              <a:buNone/>
            </a:pPr>
            <a:r>
              <a:rPr lang="en-US" sz="1400" i="1" dirty="0">
                <a:solidFill>
                  <a:srgbClr val="AAAAAA"/>
                </a:solidFill>
              </a:rPr>
              <a:t>(In its own plan)</a:t>
            </a:r>
          </a:p>
        </p:txBody>
      </p:sp>
      <p:sp>
        <p:nvSpPr>
          <p:cNvPr id="50" name="QuoteCallout"/>
          <p:cNvSpPr>
            <a:spLocks noGrp="1"/>
          </p:cNvSpPr>
          <p:nvPr/>
        </p:nvSpPr>
        <p:spPr>
          <a:xfrm>
            <a:off x="508000" y="3175000"/>
            <a:ext cx="11176000" cy="2768600"/>
          </a:xfrm>
          <a:prstGeom prst="roundRect">
            <a:avLst>
              <a:gd name="adj" fmla="val 10000"/>
            </a:avLst>
          </a:prstGeom>
          <a:solidFill>
            <a:srgbClr val="0D0D1A"/>
          </a:solidFill>
          <a:ln w="22860">
            <a:solidFill>
              <a:srgbClr val="FFD300"/>
            </a:solidFill>
          </a:ln>
        </p:spPr>
        <p:txBody>
          <a:bodyPr vertOverflow="overflow" wrap="square" lIns="182880" tIns="91440" rIns="182880" bIns="91440" anchor="ctr" anchorCtr="1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C8FF"/>
                </a:solidFill>
              </a:rPr>
              <a:t>KEN:  </a:t>
            </a:r>
            <a:r>
              <a:rPr lang="en-US" sz="1800" i="1" dirty="0">
                <a:solidFill>
                  <a:srgbClr val="FFFFFF"/>
                </a:solidFill>
              </a:rPr>
              <a:t>"AI is not magic. AI is a mirror. If you give it vibes, it gives you chaos."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2DAA"/>
                </a:solidFill>
              </a:rPr>
              <a:t>DON:  </a:t>
            </a:r>
            <a:r>
              <a:rPr lang="en-US" sz="1800" i="1" dirty="0">
                <a:solidFill>
                  <a:srgbClr val="FFFFFF"/>
                </a:solidFill>
              </a:rPr>
              <a:t>"And if you don't check its work, it will absolutely get you fined."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174C2-E1C0-F9FA-B6A4-4A8E5375762B}"/>
              </a:ext>
            </a:extLst>
          </p:cNvPr>
          <p:cNvSpPr txBox="1"/>
          <p:nvPr/>
        </p:nvSpPr>
        <p:spPr>
          <a:xfrm>
            <a:off x="365760" y="54864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800" i="1" dirty="0">
                <a:solidFill>
                  <a:srgbClr val="00C8FF"/>
                </a:solidFill>
              </a:rPr>
              <a:t>Prompt: "As an OSHA Auditor review the generated document."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B3B13-CF35-3E4F-63B9-52AFB5658919}"/>
              </a:ext>
            </a:extLst>
          </p:cNvPr>
          <p:cNvSpPr txBox="1"/>
          <p:nvPr/>
        </p:nvSpPr>
        <p:spPr>
          <a:xfrm>
            <a:off x="508000" y="1270000"/>
            <a:ext cx="3683000" cy="172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The AI critiques its own work:</a:t>
            </a:r>
          </a:p>
          <a:p>
            <a:pPr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39FF14"/>
                </a:solidFill>
              </a:rPr>
              <a:t>✓  </a:t>
            </a:r>
            <a:r>
              <a:rPr lang="en-US" sz="1600" dirty="0">
                <a:solidFill>
                  <a:srgbClr val="FFFFFF"/>
                </a:solidFill>
              </a:rPr>
              <a:t>Found critical compliance gaps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39FF14"/>
                </a:solidFill>
              </a:rPr>
              <a:t>✓  </a:t>
            </a:r>
            <a:r>
              <a:rPr lang="en-US" sz="1600" dirty="0">
                <a:solidFill>
                  <a:srgbClr val="FFFFFF"/>
                </a:solidFill>
              </a:rPr>
              <a:t>Confidently created a plan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39FF14"/>
                </a:solidFill>
              </a:rPr>
              <a:t>✓  </a:t>
            </a:r>
            <a:r>
              <a:rPr lang="en-US" sz="1600" dirty="0">
                <a:solidFill>
                  <a:srgbClr val="FFFFFF"/>
                </a:solidFill>
              </a:rPr>
              <a:t>Confidently shredded the plan</a:t>
            </a:r>
          </a:p>
        </p:txBody>
      </p:sp>
    </p:spTree>
    <p:extLst>
      <p:ext uri="{BB962C8B-B14F-4D97-AF65-F5344CB8AC3E}">
        <p14:creationId xmlns:p14="http://schemas.microsoft.com/office/powerpoint/2010/main" val="931558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CC8627-3DBA-4C12-AC35-3A5711BC0AA7}"/>
              </a:ext>
            </a:extLst>
          </p:cNvPr>
          <p:cNvSpPr txBox="1"/>
          <p:nvPr/>
        </p:nvSpPr>
        <p:spPr>
          <a:xfrm>
            <a:off x="0" y="1270000"/>
            <a:ext cx="12192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6400" b="1" dirty="0">
                <a:solidFill>
                  <a:srgbClr val="00C8FF"/>
                </a:solidFill>
              </a:rPr>
              <a:t>ACT II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47D14-B7CC-41E7-9F29-F9D678E18AC8}"/>
              </a:ext>
            </a:extLst>
          </p:cNvPr>
          <p:cNvSpPr txBox="1"/>
          <p:nvPr/>
        </p:nvSpPr>
        <p:spPr>
          <a:xfrm>
            <a:off x="0" y="3810000"/>
            <a:ext cx="1219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Vibe Coding a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3791170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65B603-C71C-4CA9-B44C-BECE496615FB}"/>
              </a:ext>
            </a:extLst>
          </p:cNvPr>
          <p:cNvSpPr txBox="1"/>
          <p:nvPr/>
        </p:nvSpPr>
        <p:spPr>
          <a:xfrm>
            <a:off x="508000" y="127000"/>
            <a:ext cx="1117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FFFF"/>
                </a:solidFill>
              </a:rPr>
              <a:t>Demo: Vibe-Coded Safety Incident 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5854C-2548-4546-AF95-0BF79E83E4E8}"/>
              </a:ext>
            </a:extLst>
          </p:cNvPr>
          <p:cNvSpPr txBox="1"/>
          <p:nvPr/>
        </p:nvSpPr>
        <p:spPr>
          <a:xfrm>
            <a:off x="508000" y="1016000"/>
            <a:ext cx="11176000" cy="349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i="1" dirty="0">
                <a:solidFill>
                  <a:srgbClr val="00C8FF"/>
                </a:solidFill>
              </a:rPr>
              <a:t>Prompt: “Build a simple web app to track safety incidents.”</a:t>
            </a:r>
          </a:p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</a:rPr>
              <a:t>The AI assumes:</a:t>
            </a:r>
          </a:p>
          <a:p>
            <a:pPr>
              <a:buNone/>
            </a:pPr>
            <a:r>
              <a:rPr lang="en-US" sz="1600" dirty="0">
                <a:solidFill>
                  <a:srgbClr val="FF2DAA"/>
                </a:solidFill>
              </a:rPr>
              <a:t>✗  </a:t>
            </a:r>
            <a:r>
              <a:rPr lang="en-US" sz="1600" dirty="0">
                <a:solidFill>
                  <a:srgbClr val="FFFFFF"/>
                </a:solidFill>
              </a:rPr>
              <a:t>Guessed the data model</a:t>
            </a:r>
          </a:p>
          <a:p>
            <a:pPr>
              <a:buNone/>
            </a:pPr>
            <a:r>
              <a:rPr lang="en-US" sz="1600" dirty="0">
                <a:solidFill>
                  <a:srgbClr val="FF2DAA"/>
                </a:solidFill>
              </a:rPr>
              <a:t>✗  </a:t>
            </a:r>
            <a:r>
              <a:rPr lang="en-US" sz="1600" dirty="0">
                <a:solidFill>
                  <a:srgbClr val="FFFFFF"/>
                </a:solidFill>
              </a:rPr>
              <a:t>Skipped validation</a:t>
            </a:r>
          </a:p>
          <a:p>
            <a:pPr>
              <a:buNone/>
            </a:pPr>
            <a:r>
              <a:rPr lang="en-US" sz="1600" dirty="0">
                <a:solidFill>
                  <a:srgbClr val="FF2DAA"/>
                </a:solidFill>
              </a:rPr>
              <a:t>✗  </a:t>
            </a:r>
            <a:r>
              <a:rPr lang="en-US" sz="1600" dirty="0">
                <a:solidFill>
                  <a:srgbClr val="FFFFFF"/>
                </a:solidFill>
              </a:rPr>
              <a:t>Ignored security</a:t>
            </a:r>
          </a:p>
          <a:p>
            <a:pPr>
              <a:buNone/>
            </a:pPr>
            <a:r>
              <a:rPr lang="en-US" sz="1600" dirty="0">
                <a:solidFill>
                  <a:srgbClr val="FF2DAA"/>
                </a:solidFill>
              </a:rPr>
              <a:t>✗  </a:t>
            </a:r>
            <a:r>
              <a:rPr lang="en-US" sz="1600" dirty="0">
                <a:solidFill>
                  <a:srgbClr val="FFFFFF"/>
                </a:solidFill>
              </a:rPr>
              <a:t>Invented business rules</a:t>
            </a:r>
          </a:p>
          <a:p>
            <a:pPr>
              <a:buNone/>
            </a:pPr>
            <a:r>
              <a:rPr lang="en-US" sz="1600" dirty="0">
                <a:solidFill>
                  <a:srgbClr val="FF2DAA"/>
                </a:solidFill>
              </a:rPr>
              <a:t>✗  </a:t>
            </a:r>
            <a:r>
              <a:rPr lang="en-US" sz="1600" dirty="0">
                <a:solidFill>
                  <a:srgbClr val="FFFFFF"/>
                </a:solidFill>
              </a:rPr>
              <a:t>Added a “severity emoji” (bold choice)</a:t>
            </a:r>
          </a:p>
        </p:txBody>
      </p:sp>
      <p:sp>
        <p:nvSpPr>
          <p:cNvPr id="60" name="QuoteCallout"/>
          <p:cNvSpPr>
            <a:spLocks noGrp="1"/>
          </p:cNvSpPr>
          <p:nvPr/>
        </p:nvSpPr>
        <p:spPr>
          <a:xfrm>
            <a:off x="508000" y="4572000"/>
            <a:ext cx="11176000" cy="15240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22860">
            <a:solidFill>
              <a:srgbClr val="FF2DAA"/>
            </a:solidFill>
          </a:ln>
        </p:spPr>
        <p:txBody>
          <a:bodyPr wrap="square" lIns="180000" tIns="100000" rIns="180000" bIns="100000" anchor="ctr"/>
          <a:lstStyle/>
          <a:p>
            <a:pPr algn="l">
              <a:buNone/>
            </a:pPr>
            <a:r>
              <a:rPr lang="en-US" sz="1200" b="1" dirty="0">
                <a:solidFill>
                  <a:srgbClr val="FF2DAA"/>
                </a:solidFill>
              </a:rPr>
              <a:t>DON:  </a:t>
            </a:r>
            <a:r>
              <a:rPr lang="en-US" sz="1800" b="1" i="1" dirty="0">
                <a:solidFill>
                  <a:srgbClr val="FFD300"/>
                </a:solidFill>
              </a:rPr>
              <a:t>"Freshman-at-3AM energy."</a:t>
            </a:r>
          </a:p>
        </p:txBody>
      </p:sp>
    </p:spTree>
    <p:extLst>
      <p:ext uri="{BB962C8B-B14F-4D97-AF65-F5344CB8AC3E}">
        <p14:creationId xmlns:p14="http://schemas.microsoft.com/office/powerpoint/2010/main" val="2768466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4F918B-A711-4152-A863-79E908777411}"/>
              </a:ext>
            </a:extLst>
          </p:cNvPr>
          <p:cNvSpPr txBox="1"/>
          <p:nvPr/>
        </p:nvSpPr>
        <p:spPr>
          <a:xfrm>
            <a:off x="508000" y="127000"/>
            <a:ext cx="1117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AI Reviews Its Own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1F17E-EE17-4B77-951D-2507083BFA8A}"/>
              </a:ext>
            </a:extLst>
          </p:cNvPr>
          <p:cNvSpPr txBox="1"/>
          <p:nvPr/>
        </p:nvSpPr>
        <p:spPr>
          <a:xfrm>
            <a:off x="508000" y="1016000"/>
            <a:ext cx="111760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2DAA"/>
                </a:solidFill>
              </a:rPr>
              <a:t>Senior Engineer Review Finds:</a:t>
            </a:r>
          </a:p>
          <a:p>
            <a:pPr>
              <a:buNone/>
            </a:pPr>
            <a:r>
              <a:rPr lang="en-US" sz="2000" dirty="0">
                <a:solidFill>
                  <a:srgbClr val="FF2DAA"/>
                </a:solidFill>
              </a:rPr>
              <a:t>✗  </a:t>
            </a:r>
            <a:r>
              <a:rPr lang="en-US" sz="2000" dirty="0">
                <a:solidFill>
                  <a:srgbClr val="FFFFFF"/>
                </a:solidFill>
              </a:rPr>
              <a:t>No input validation</a:t>
            </a:r>
          </a:p>
          <a:p>
            <a:pPr>
              <a:buNone/>
            </a:pPr>
            <a:r>
              <a:rPr lang="en-US" sz="2000" dirty="0">
                <a:solidFill>
                  <a:srgbClr val="FF2DAA"/>
                </a:solidFill>
              </a:rPr>
              <a:t>✗  </a:t>
            </a:r>
            <a:r>
              <a:rPr lang="en-US" sz="2000" dirty="0">
                <a:solidFill>
                  <a:srgbClr val="FFFFFF"/>
                </a:solidFill>
              </a:rPr>
              <a:t>No sanitization</a:t>
            </a:r>
          </a:p>
          <a:p>
            <a:pPr>
              <a:buNone/>
            </a:pPr>
            <a:r>
              <a:rPr lang="en-US" sz="2000" dirty="0">
                <a:solidFill>
                  <a:srgbClr val="FF2DAA"/>
                </a:solidFill>
              </a:rPr>
              <a:t>✗  </a:t>
            </a:r>
            <a:r>
              <a:rPr lang="en-US" sz="2000" dirty="0">
                <a:solidFill>
                  <a:srgbClr val="FFFFFF"/>
                </a:solidFill>
              </a:rPr>
              <a:t>No error handling</a:t>
            </a:r>
          </a:p>
          <a:p>
            <a:pPr>
              <a:buNone/>
            </a:pPr>
            <a:r>
              <a:rPr lang="en-US" sz="2000" dirty="0">
                <a:solidFill>
                  <a:srgbClr val="FF2DAA"/>
                </a:solidFill>
              </a:rPr>
              <a:t>✗  </a:t>
            </a:r>
            <a:r>
              <a:rPr lang="en-US" sz="2000" dirty="0">
                <a:solidFill>
                  <a:srgbClr val="FFFFFF"/>
                </a:solidFill>
              </a:rPr>
              <a:t>No authentication</a:t>
            </a:r>
          </a:p>
          <a:p>
            <a:pPr>
              <a:buNone/>
            </a:pPr>
            <a:r>
              <a:rPr lang="en-US" sz="2000" dirty="0">
                <a:solidFill>
                  <a:srgbClr val="FF2DAA"/>
                </a:solidFill>
              </a:rPr>
              <a:t>✗  </a:t>
            </a:r>
            <a:r>
              <a:rPr lang="en-US" sz="2000" dirty="0">
                <a:solidFill>
                  <a:srgbClr val="FFFFFF"/>
                </a:solidFill>
              </a:rPr>
              <a:t>No logging</a:t>
            </a:r>
          </a:p>
          <a:p>
            <a:pPr>
              <a:buNone/>
            </a:pPr>
            <a:r>
              <a:rPr lang="en-US" sz="2000" dirty="0">
                <a:solidFill>
                  <a:srgbClr val="FF2DAA"/>
                </a:solidFill>
              </a:rPr>
              <a:t>✗  </a:t>
            </a:r>
            <a:r>
              <a:rPr lang="en-US" sz="2000" dirty="0">
                <a:solidFill>
                  <a:srgbClr val="FFFFFF"/>
                </a:solidFill>
              </a:rPr>
              <a:t>No testing</a:t>
            </a:r>
          </a:p>
        </p:txBody>
      </p:sp>
      <p:sp>
        <p:nvSpPr>
          <p:cNvPr id="70" name="QuoteCallout"/>
          <p:cNvSpPr>
            <a:spLocks noGrp="1"/>
          </p:cNvSpPr>
          <p:nvPr/>
        </p:nvSpPr>
        <p:spPr>
          <a:xfrm>
            <a:off x="508000" y="4889500"/>
            <a:ext cx="11176000" cy="12700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22860">
            <a:solidFill>
              <a:srgbClr val="39FF14"/>
            </a:solidFill>
          </a:ln>
        </p:spPr>
        <p:txBody>
          <a:bodyPr wrap="square" lIns="180000" tIns="90000" rIns="180000" bIns="90000" anchor="ctr"/>
          <a:lstStyle/>
          <a:p>
            <a:pPr algn="l">
              <a:buNone/>
            </a:pPr>
            <a:r>
              <a:rPr lang="en-US" sz="1200" b="1" dirty="0">
                <a:solidFill>
                  <a:srgbClr val="FF2DAA"/>
                </a:solidFill>
              </a:rPr>
              <a:t>DON:  </a:t>
            </a:r>
            <a:r>
              <a:rPr lang="en-US" sz="1800" b="1" i="1" dirty="0">
                <a:solidFill>
                  <a:srgbClr val="39FF14"/>
                </a:solidFill>
              </a:rPr>
              <a:t>"It wrote code like I used to… before I learned better."</a:t>
            </a:r>
          </a:p>
        </p:txBody>
      </p:sp>
    </p:spTree>
    <p:extLst>
      <p:ext uri="{BB962C8B-B14F-4D97-AF65-F5344CB8AC3E}">
        <p14:creationId xmlns:p14="http://schemas.microsoft.com/office/powerpoint/2010/main" val="2808399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99384-1AD7-4358-BBE4-1C382569B6F3}"/>
              </a:ext>
            </a:extLst>
          </p:cNvPr>
          <p:cNvSpPr txBox="1"/>
          <p:nvPr/>
        </p:nvSpPr>
        <p:spPr>
          <a:xfrm>
            <a:off x="0" y="1270000"/>
            <a:ext cx="12192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6400" b="1" dirty="0">
                <a:solidFill>
                  <a:srgbClr val="FFD300"/>
                </a:solidFill>
              </a:rPr>
              <a:t>ACT III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259AC-8207-4105-9CA3-F3B5766570F5}"/>
              </a:ext>
            </a:extLst>
          </p:cNvPr>
          <p:cNvSpPr txBox="1"/>
          <p:nvPr/>
        </p:nvSpPr>
        <p:spPr>
          <a:xfrm>
            <a:off x="0" y="3810000"/>
            <a:ext cx="1219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Vibe Coding a Test Plan</a:t>
            </a:r>
          </a:p>
        </p:txBody>
      </p:sp>
    </p:spTree>
    <p:extLst>
      <p:ext uri="{BB962C8B-B14F-4D97-AF65-F5344CB8AC3E}">
        <p14:creationId xmlns:p14="http://schemas.microsoft.com/office/powerpoint/2010/main" val="841157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27EC41-8F54-4EBB-8F58-E922B4E7FEB1}"/>
              </a:ext>
            </a:extLst>
          </p:cNvPr>
          <p:cNvSpPr txBox="1"/>
          <p:nvPr/>
        </p:nvSpPr>
        <p:spPr>
          <a:xfrm>
            <a:off x="508000" y="127000"/>
            <a:ext cx="11176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000" b="1" dirty="0">
                <a:solidFill>
                  <a:srgbClr val="FFFFFF"/>
                </a:solidFill>
              </a:rPr>
              <a:t>Demo: Vibe-Coded Test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2211DD-3CBB-4F12-9093-04775455D4FA}"/>
              </a:ext>
            </a:extLst>
          </p:cNvPr>
          <p:cNvSpPr txBox="1"/>
          <p:nvPr/>
        </p:nvSpPr>
        <p:spPr>
          <a:xfrm>
            <a:off x="508000" y="889000"/>
            <a:ext cx="11176000" cy="825500"/>
          </a:xfrm>
          <a:prstGeom prst="rect">
            <a:avLst/>
          </a:prstGeom>
          <a:noFill/>
        </p:spPr>
        <p:txBody>
          <a:bodyPr vertOverflow="overflow" vert="horz" wrap="square" tIns="60000" bIns="60000" rtlCol="0" anchor="t">
            <a:spAutoFit/>
          </a:bodyPr>
          <a:lstStyle/>
          <a:p>
            <a:pPr>
              <a:buNone/>
            </a:pPr>
            <a:r>
              <a:rPr lang="en-US" sz="1600" i="1" dirty="0">
                <a:solidFill>
                  <a:srgbClr val="00C8FF"/>
                </a:solidFill>
              </a:rPr>
              <a:t>Prompt: “Write a test plan for the safety incident tracking app.”</a:t>
            </a:r>
          </a:p>
          <a:p>
            <a:pPr>
              <a:buNone/>
            </a:pPr>
            <a:r>
              <a:rPr lang="en-US" sz="1800" dirty="0">
                <a:solidFill>
                  <a:srgbClr val="A0A0A0"/>
                </a:solidFill>
              </a:rPr>
              <a:t>Looks thorough. Reads convincingly. Tests nothing that matters.</a:t>
            </a:r>
          </a:p>
        </p:txBody>
      </p:sp>
      <p:sp>
        <p:nvSpPr>
          <p:cNvPr id="81" name="Checklist"/>
          <p:cNvSpPr>
            <a:spLocks noGrp="1"/>
          </p:cNvSpPr>
          <p:nvPr/>
        </p:nvSpPr>
        <p:spPr>
          <a:xfrm>
            <a:off x="508000" y="1803400"/>
            <a:ext cx="11176000" cy="24130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5875">
            <a:solidFill>
              <a:srgbClr val="FF2DAA"/>
            </a:solidFill>
          </a:ln>
        </p:spPr>
        <p:txBody>
          <a:bodyPr wrap="square" lIns="220000" tIns="160000" rIns="220000" bIns="120000" anchor="t"/>
          <a:lstStyle/>
          <a:p>
            <a:pPr>
              <a:spcBef>
                <a:spcPts val="0"/>
              </a:spcBef>
              <a:buNone/>
            </a:pPr>
            <a:r>
              <a:rPr lang="en-US" sz="1600" b="1" dirty="0">
                <a:solidFill>
                  <a:srgbClr val="39FF14"/>
                </a:solidFill>
              </a:rPr>
              <a:t>What the AI nailed:</a:t>
            </a:r>
          </a:p>
          <a:p>
            <a:pPr>
              <a:spcBef>
                <a:spcPts val="100"/>
              </a:spcBef>
              <a:buNone/>
            </a:pPr>
            <a:r>
              <a:rPr lang="en-US" sz="1600" dirty="0">
                <a:solidFill>
                  <a:srgbClr val="39FF14"/>
                </a:solidFill>
              </a:rPr>
              <a:t>✓  </a:t>
            </a:r>
            <a:r>
              <a:rPr lang="en-US" sz="1600" dirty="0">
                <a:solidFill>
                  <a:srgbClr val="DDDDDD"/>
                </a:solidFill>
              </a:rPr>
              <a:t>Professional-sounding section headers</a:t>
            </a:r>
          </a:p>
          <a:p>
            <a:pPr>
              <a:spcBef>
                <a:spcPts val="100"/>
              </a:spcBef>
              <a:buNone/>
            </a:pPr>
            <a:r>
              <a:rPr lang="en-US" sz="1600" dirty="0">
                <a:solidFill>
                  <a:srgbClr val="39FF14"/>
                </a:solidFill>
              </a:rPr>
              <a:t>✓  </a:t>
            </a:r>
            <a:r>
              <a:rPr lang="en-US" sz="1600" dirty="0">
                <a:solidFill>
                  <a:srgbClr val="DDDDDD"/>
                </a:solidFill>
              </a:rPr>
              <a:t>Confident test case names</a:t>
            </a:r>
          </a:p>
          <a:p>
            <a:pPr>
              <a:spcBef>
                <a:spcPts val="100"/>
              </a:spcBef>
              <a:buNone/>
            </a:pPr>
            <a:r>
              <a:rPr lang="en-US" sz="1600" dirty="0">
                <a:solidFill>
                  <a:srgbClr val="39FF14"/>
                </a:solidFill>
              </a:rPr>
              <a:t>✓  </a:t>
            </a:r>
            <a:r>
              <a:rPr lang="en-US" sz="1600" dirty="0">
                <a:solidFill>
                  <a:srgbClr val="DDDDDD"/>
                </a:solidFill>
              </a:rPr>
              <a:t>Plausible-looking structure</a:t>
            </a:r>
          </a:p>
          <a:p>
            <a:pPr>
              <a:spcBef>
                <a:spcPts val="280"/>
              </a:spcBef>
              <a:buNone/>
            </a:pPr>
            <a:r>
              <a:rPr lang="en-US" sz="1600" b="1" dirty="0">
                <a:solidFill>
                  <a:srgbClr val="FF2DAA"/>
                </a:solidFill>
              </a:rPr>
              <a:t>What it completely missed:</a:t>
            </a:r>
          </a:p>
          <a:p>
            <a:pPr>
              <a:spcBef>
                <a:spcPts val="100"/>
              </a:spcBef>
              <a:buNone/>
            </a:pPr>
            <a:r>
              <a:rPr lang="en-US" sz="1600" dirty="0">
                <a:solidFill>
                  <a:srgbClr val="FF2DAA"/>
                </a:solidFill>
              </a:rPr>
              <a:t>✗  </a:t>
            </a:r>
            <a:r>
              <a:rPr lang="en-US" sz="1600" dirty="0">
                <a:solidFill>
                  <a:srgbClr val="DDDDDD"/>
                </a:solidFill>
              </a:rPr>
              <a:t>Actual test conditions or inputs</a:t>
            </a:r>
          </a:p>
          <a:p>
            <a:pPr>
              <a:spcBef>
                <a:spcPts val="100"/>
              </a:spcBef>
              <a:buNone/>
            </a:pPr>
            <a:r>
              <a:rPr lang="en-US" sz="1600" dirty="0">
                <a:solidFill>
                  <a:srgbClr val="FF2DAA"/>
                </a:solidFill>
              </a:rPr>
              <a:t>✗  </a:t>
            </a:r>
            <a:r>
              <a:rPr lang="en-US" sz="1600" dirty="0">
                <a:solidFill>
                  <a:srgbClr val="DDDDDD"/>
                </a:solidFill>
              </a:rPr>
              <a:t>Expected vs. actual outcomes</a:t>
            </a:r>
          </a:p>
          <a:p>
            <a:pPr>
              <a:spcBef>
                <a:spcPts val="100"/>
              </a:spcBef>
              <a:buNone/>
            </a:pPr>
            <a:r>
              <a:rPr lang="en-US" sz="1600" dirty="0">
                <a:solidFill>
                  <a:srgbClr val="FF2DAA"/>
                </a:solidFill>
              </a:rPr>
              <a:t>✗  </a:t>
            </a:r>
            <a:r>
              <a:rPr lang="en-US" sz="1600" dirty="0">
                <a:solidFill>
                  <a:srgbClr val="DDDDDD"/>
                </a:solidFill>
              </a:rPr>
              <a:t>Edge cases or failure modes</a:t>
            </a:r>
          </a:p>
        </p:txBody>
      </p:sp>
      <p:sp>
        <p:nvSpPr>
          <p:cNvPr id="82" name="QuoteCallout"/>
          <p:cNvSpPr>
            <a:spLocks noGrp="1"/>
          </p:cNvSpPr>
          <p:nvPr/>
        </p:nvSpPr>
        <p:spPr>
          <a:xfrm>
            <a:off x="508000" y="4343400"/>
            <a:ext cx="11176000" cy="1117600"/>
          </a:xfrm>
          <a:prstGeom prst="roundRect">
            <a:avLst>
              <a:gd name="adj" fmla="val 8000"/>
            </a:avLst>
          </a:prstGeom>
          <a:solidFill>
            <a:srgbClr val="1A1400"/>
          </a:solidFill>
          <a:ln w="28575">
            <a:solidFill>
              <a:srgbClr val="FFD300"/>
            </a:solidFill>
          </a:ln>
        </p:spPr>
        <p:txBody>
          <a:bodyPr wrap="square" lIns="200000" tIns="100000" rIns="200000" bIns="100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DON:  </a:t>
            </a:r>
            <a:r>
              <a:rPr lang="en-US" sz="2200" b="1" i="1" dirty="0">
                <a:solidFill>
                  <a:srgbClr val="FFD300"/>
                </a:solidFill>
              </a:rPr>
              <a:t>"This is the 'did you try turning it off and on again' of test plans."</a:t>
            </a:r>
          </a:p>
        </p:txBody>
      </p:sp>
    </p:spTree>
    <p:extLst>
      <p:ext uri="{BB962C8B-B14F-4D97-AF65-F5344CB8AC3E}">
        <p14:creationId xmlns:p14="http://schemas.microsoft.com/office/powerpoint/2010/main" val="1237115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937F2C-D784-4367-AAFC-A8F03F2FBAC6}"/>
              </a:ext>
            </a:extLst>
          </p:cNvPr>
          <p:cNvSpPr txBox="1"/>
          <p:nvPr/>
        </p:nvSpPr>
        <p:spPr>
          <a:xfrm>
            <a:off x="0" y="1270000"/>
            <a:ext cx="12192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6400" b="1" dirty="0">
                <a:solidFill>
                  <a:srgbClr val="FF2DAA"/>
                </a:solidFill>
              </a:rPr>
              <a:t>ACT IV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52D69-DDA2-4AA9-AE99-D82ACC561F3A}"/>
              </a:ext>
            </a:extLst>
          </p:cNvPr>
          <p:cNvSpPr txBox="1"/>
          <p:nvPr/>
        </p:nvSpPr>
        <p:spPr>
          <a:xfrm>
            <a:off x="0" y="3810000"/>
            <a:ext cx="1219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The Fix: TDD, BDD &amp; SDD</a:t>
            </a:r>
          </a:p>
        </p:txBody>
      </p:sp>
    </p:spTree>
    <p:extLst>
      <p:ext uri="{BB962C8B-B14F-4D97-AF65-F5344CB8AC3E}">
        <p14:creationId xmlns:p14="http://schemas.microsoft.com/office/powerpoint/2010/main" val="2925990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DFBFC4A-86FE-467F-8E12-BB25C06980AE}"/>
              </a:ext>
            </a:extLst>
          </p:cNvPr>
          <p:cNvSpPr txBox="1"/>
          <p:nvPr/>
        </p:nvSpPr>
        <p:spPr>
          <a:xfrm>
            <a:off x="508000" y="101600"/>
            <a:ext cx="11176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Three Ways to Keep Chaos Under Control</a:t>
            </a:r>
          </a:p>
        </p:txBody>
      </p:sp>
      <p:sp>
        <p:nvSpPr>
          <p:cNvPr id="101" name="DisciplineBlock101"/>
          <p:cNvSpPr>
            <a:spLocks noGrp="1"/>
          </p:cNvSpPr>
          <p:nvPr/>
        </p:nvSpPr>
        <p:spPr>
          <a:xfrm>
            <a:off x="502920" y="941832"/>
            <a:ext cx="11183112" cy="1554480"/>
          </a:xfrm>
          <a:prstGeom prst="rect">
            <a:avLst/>
          </a:prstGeom>
          <a:noFill/>
        </p:spPr>
        <p:txBody>
          <a:bodyPr vertOverflow="overflow" wrap="square" lIns="182880" tIns="91440" rIns="91440" bIns="9144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39FF14"/>
                </a:solidFill>
              </a:rPr>
              <a:t>TDD — Test Driven Development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800" dirty="0">
                <a:solidFill>
                  <a:srgbClr val="DDDDDD"/>
                </a:solidFill>
              </a:rPr>
              <a:t>Write a failing test  →  Make it pass  →  Refactor  →  Repeat</a:t>
            </a:r>
          </a:p>
        </p:txBody>
      </p:sp>
      <p:sp>
        <p:nvSpPr>
          <p:cNvPr id="102" name="DisciplineBlock102"/>
          <p:cNvSpPr>
            <a:spLocks noGrp="1"/>
          </p:cNvSpPr>
          <p:nvPr/>
        </p:nvSpPr>
        <p:spPr>
          <a:xfrm>
            <a:off x="502920" y="2770632"/>
            <a:ext cx="11183112" cy="1554480"/>
          </a:xfrm>
          <a:prstGeom prst="rect">
            <a:avLst/>
          </a:prstGeom>
          <a:noFill/>
        </p:spPr>
        <p:txBody>
          <a:bodyPr vertOverflow="overflow" wrap="square" lIns="182880" tIns="91440" rIns="91440" bIns="9144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C8FF"/>
                </a:solidFill>
              </a:rPr>
              <a:t>BDD — Behavior Driven Development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800" dirty="0">
                <a:solidFill>
                  <a:srgbClr val="DDDDDD"/>
                </a:solidFill>
              </a:rPr>
              <a:t>Given / When / Then — Business and engineering aligned</a:t>
            </a:r>
          </a:p>
        </p:txBody>
      </p:sp>
      <p:sp>
        <p:nvSpPr>
          <p:cNvPr id="103" name="DisciplineBlock103"/>
          <p:cNvSpPr>
            <a:spLocks noGrp="1"/>
          </p:cNvSpPr>
          <p:nvPr/>
        </p:nvSpPr>
        <p:spPr>
          <a:xfrm>
            <a:off x="502920" y="4599432"/>
            <a:ext cx="11183112" cy="1554480"/>
          </a:xfrm>
          <a:prstGeom prst="rect">
            <a:avLst/>
          </a:prstGeom>
          <a:noFill/>
        </p:spPr>
        <p:txBody>
          <a:bodyPr vertOverflow="overflow" wrap="square" lIns="182880" tIns="91440" rIns="91440" bIns="9144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F2DAA"/>
                </a:solidFill>
              </a:rPr>
              <a:t>SDD — Spec Driven Development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800" dirty="0">
                <a:solidFill>
                  <a:srgbClr val="DDDDDD"/>
                </a:solidFill>
              </a:rPr>
              <a:t>The specification IS the source of truth</a:t>
            </a:r>
          </a:p>
        </p:txBody>
      </p:sp>
    </p:spTree>
    <p:extLst>
      <p:ext uri="{BB962C8B-B14F-4D97-AF65-F5344CB8AC3E}">
        <p14:creationId xmlns:p14="http://schemas.microsoft.com/office/powerpoint/2010/main" val="1649107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D8E729-64CC-4681-A465-96D85C9BE2E8}"/>
              </a:ext>
            </a:extLst>
          </p:cNvPr>
          <p:cNvSpPr txBox="1"/>
          <p:nvPr/>
        </p:nvSpPr>
        <p:spPr>
          <a:xfrm>
            <a:off x="508000" y="127000"/>
            <a:ext cx="1117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TDD: Test Driven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C41269-28DD-4108-84B9-3D4363949F11}"/>
              </a:ext>
            </a:extLst>
          </p:cNvPr>
          <p:cNvSpPr txBox="1"/>
          <p:nvPr/>
        </p:nvSpPr>
        <p:spPr>
          <a:xfrm>
            <a:off x="508000" y="1016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000" b="1" dirty="0">
                <a:solidFill>
                  <a:srgbClr val="39FF14"/>
                </a:solidFill>
              </a:rPr>
              <a:t>Red → Green → Refactor</a:t>
            </a:r>
          </a:p>
        </p:txBody>
      </p:sp>
      <p:sp>
        <p:nvSpPr>
          <p:cNvPr id="100" name="CycleCircle"/>
          <p:cNvSpPr>
            <a:spLocks noGrp="1"/>
          </p:cNvSpPr>
          <p:nvPr/>
        </p:nvSpPr>
        <p:spPr>
          <a:xfrm>
            <a:off x="566928" y="1748027"/>
            <a:ext cx="3108960" cy="2103120"/>
          </a:xfrm>
          <a:prstGeom prst="ellipse">
            <a:avLst/>
          </a:prstGeom>
          <a:solidFill>
            <a:srgbClr val="CC2200"/>
          </a:solidFill>
          <a:ln w="38100">
            <a:solidFill>
              <a:srgbClr val="FF4444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RED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600" dirty="0">
                <a:solidFill>
                  <a:srgbClr val="DDDDDD"/>
                </a:solidFill>
              </a:rPr>
              <a:t>Write a failing test</a:t>
            </a:r>
          </a:p>
        </p:txBody>
      </p:sp>
      <p:sp>
        <p:nvSpPr>
          <p:cNvPr id="101" name="CycleCircle"/>
          <p:cNvSpPr>
            <a:spLocks noGrp="1"/>
          </p:cNvSpPr>
          <p:nvPr/>
        </p:nvSpPr>
        <p:spPr>
          <a:xfrm>
            <a:off x="4544568" y="1748027"/>
            <a:ext cx="3108960" cy="2103120"/>
          </a:xfrm>
          <a:prstGeom prst="ellipse">
            <a:avLst/>
          </a:prstGeom>
          <a:solidFill>
            <a:srgbClr val="006600"/>
          </a:solidFill>
          <a:ln w="38100">
            <a:solidFill>
              <a:srgbClr val="39FF14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39FF14"/>
                </a:solidFill>
              </a:rPr>
              <a:t>GREEN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600" dirty="0">
                <a:solidFill>
                  <a:srgbClr val="DDDDDD"/>
                </a:solidFill>
              </a:rPr>
              <a:t>Make the test pass</a:t>
            </a:r>
          </a:p>
        </p:txBody>
      </p:sp>
      <p:sp>
        <p:nvSpPr>
          <p:cNvPr id="102" name="CycleCircle"/>
          <p:cNvSpPr>
            <a:spLocks noGrp="1"/>
          </p:cNvSpPr>
          <p:nvPr/>
        </p:nvSpPr>
        <p:spPr>
          <a:xfrm>
            <a:off x="8522208" y="1748027"/>
            <a:ext cx="3108960" cy="2103120"/>
          </a:xfrm>
          <a:prstGeom prst="ellipse">
            <a:avLst/>
          </a:prstGeom>
          <a:solidFill>
            <a:srgbClr val="004466"/>
          </a:solidFill>
          <a:ln w="38100">
            <a:solidFill>
              <a:srgbClr val="00C8FF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>
              <a:buNone/>
            </a:pPr>
            <a:r>
              <a:rPr lang="en-US" sz="2600" b="1" dirty="0">
                <a:solidFill>
                  <a:srgbClr val="00C8FF"/>
                </a:solidFill>
              </a:rPr>
              <a:t>REFACTOR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600" dirty="0">
                <a:solidFill>
                  <a:srgbClr val="DDDDDD"/>
                </a:solidFill>
              </a:rPr>
              <a:t>Clean up the code</a:t>
            </a:r>
          </a:p>
        </p:txBody>
      </p:sp>
      <p:sp>
        <p:nvSpPr>
          <p:cNvPr id="103" name="CycleArrow"/>
          <p:cNvSpPr>
            <a:spLocks noGrp="1"/>
          </p:cNvSpPr>
          <p:nvPr/>
        </p:nvSpPr>
        <p:spPr>
          <a:xfrm>
            <a:off x="3739896" y="2570988"/>
            <a:ext cx="73152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CycleArrow"/>
          <p:cNvSpPr>
            <a:spLocks noGrp="1"/>
          </p:cNvSpPr>
          <p:nvPr/>
        </p:nvSpPr>
        <p:spPr>
          <a:xfrm>
            <a:off x="7717536" y="2570988"/>
            <a:ext cx="73152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RepeatLabel"/>
          <p:cNvSpPr>
            <a:spLocks noGrp="1"/>
          </p:cNvSpPr>
          <p:nvPr/>
        </p:nvSpPr>
        <p:spPr>
          <a:xfrm>
            <a:off x="4727448" y="3960876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FFD300"/>
                </a:solidFill>
              </a:rPr>
              <a:t>↺  REPEAT</a:t>
            </a:r>
          </a:p>
        </p:txBody>
      </p:sp>
      <p:sp>
        <p:nvSpPr>
          <p:cNvPr id="107" name="QuoteCallout"/>
          <p:cNvSpPr>
            <a:spLocks noGrp="1"/>
          </p:cNvSpPr>
          <p:nvPr/>
        </p:nvSpPr>
        <p:spPr>
          <a:xfrm>
            <a:off x="512064" y="4546600"/>
            <a:ext cx="11173968" cy="1270000"/>
          </a:xfrm>
          <a:prstGeom prst="roundRect">
            <a:avLst>
              <a:gd name="adj" fmla="val 8000"/>
            </a:avLst>
          </a:prstGeom>
          <a:solidFill>
            <a:srgbClr val="0A1A0A"/>
          </a:solidFill>
          <a:ln w="22860">
            <a:solidFill>
              <a:srgbClr val="39FF14"/>
            </a:solidFill>
          </a:ln>
        </p:spPr>
        <p:txBody>
          <a:bodyPr wrap="square" lIns="228600" tIns="91440" rIns="228600" bIns="91440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2DAA"/>
                </a:solidFill>
              </a:rPr>
              <a:t>DON:  </a:t>
            </a:r>
            <a:r>
              <a:rPr lang="en-US" sz="2200" b="1" i="1" dirty="0">
                <a:solidFill>
                  <a:srgbClr val="39FF14"/>
                </a:solidFill>
              </a:rPr>
              <a:t>"You don't vibe. You constrain."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C8FF"/>
                </a:solidFill>
              </a:rPr>
              <a:t>KEN:  </a:t>
            </a:r>
            <a:r>
              <a:rPr lang="en-US" sz="1800" i="1" dirty="0">
                <a:solidFill>
                  <a:srgbClr val="FFFFFF"/>
                </a:solidFill>
              </a:rPr>
              <a:t>"This is TDD. Write the test first. Always."</a:t>
            </a:r>
          </a:p>
        </p:txBody>
      </p:sp>
    </p:spTree>
    <p:extLst>
      <p:ext uri="{BB962C8B-B14F-4D97-AF65-F5344CB8AC3E}">
        <p14:creationId xmlns:p14="http://schemas.microsoft.com/office/powerpoint/2010/main" val="904040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BE8905-DB12-42A1-96CF-3D139C59B4BA}"/>
              </a:ext>
            </a:extLst>
          </p:cNvPr>
          <p:cNvSpPr txBox="1"/>
          <p:nvPr/>
        </p:nvSpPr>
        <p:spPr>
          <a:xfrm>
            <a:off x="508000" y="127000"/>
            <a:ext cx="1117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000" b="1" dirty="0">
                <a:solidFill>
                  <a:srgbClr val="FFFFFF"/>
                </a:solidFill>
              </a:rPr>
              <a:t>BDD: Behavior Driven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B97B6-D52F-4833-BC74-3C51F484D919}"/>
              </a:ext>
            </a:extLst>
          </p:cNvPr>
          <p:cNvSpPr txBox="1"/>
          <p:nvPr/>
        </p:nvSpPr>
        <p:spPr>
          <a:xfrm>
            <a:off x="508000" y="1016000"/>
            <a:ext cx="1117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i="1" dirty="0">
                <a:solidFill>
                  <a:srgbClr val="A0A0A0"/>
                </a:solidFill>
              </a:rPr>
              <a:t>Where business and engineering meet in the middle</a:t>
            </a:r>
          </a:p>
          <a:p>
            <a:pPr>
              <a:buNone/>
            </a:pPr>
            <a:r>
              <a:rPr lang="en-US" sz="1600" i="1" dirty="0">
                <a:solidFill>
                  <a:srgbClr val="00C8FF"/>
                </a:solidFill>
              </a:rPr>
              <a:t>Prompt: “Write a Given/When/Then scenario for logging a safety incident.”</a:t>
            </a:r>
          </a:p>
        </p:txBody>
      </p:sp>
      <p:sp>
        <p:nvSpPr>
          <p:cNvPr id="200" name="GWTBadge"/>
          <p:cNvSpPr>
            <a:spLocks noGrp="1"/>
          </p:cNvSpPr>
          <p:nvPr/>
        </p:nvSpPr>
        <p:spPr>
          <a:xfrm>
            <a:off x="508000" y="1841500"/>
            <a:ext cx="1651000" cy="914400"/>
          </a:xfrm>
          <a:prstGeom prst="roundRect">
            <a:avLst>
              <a:gd name="adj" fmla="val 30000"/>
            </a:avLst>
          </a:prstGeom>
          <a:solidFill>
            <a:srgbClr val="39FF14"/>
          </a:solidFill>
          <a:ln>
            <a:noFill/>
          </a:ln>
        </p:spPr>
        <p:txBody>
          <a:bodyPr wrap="square" lIns="60000" tIns="40000" rIns="60000" bIns="40000" anchor="ctr"/>
          <a:lstStyle/>
          <a:p>
            <a:pPr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GIVEN</a:t>
            </a:r>
          </a:p>
        </p:txBody>
      </p:sp>
      <p:sp>
        <p:nvSpPr>
          <p:cNvPr id="201" name="GWTCard"/>
          <p:cNvSpPr>
            <a:spLocks noGrp="1"/>
          </p:cNvSpPr>
          <p:nvPr/>
        </p:nvSpPr>
        <p:spPr>
          <a:xfrm>
            <a:off x="2349500" y="1841500"/>
            <a:ext cx="9334500" cy="914400"/>
          </a:xfrm>
          <a:prstGeom prst="roundRect">
            <a:avLst>
              <a:gd name="adj" fmla="val 10000"/>
            </a:avLst>
          </a:prstGeom>
          <a:solidFill>
            <a:srgbClr val="0A2A0A"/>
          </a:solidFill>
          <a:ln w="15875">
            <a:solidFill>
              <a:srgbClr val="39FF14"/>
            </a:solidFill>
          </a:ln>
        </p:spPr>
        <p:txBody>
          <a:bodyPr wrap="square" lIns="150000" tIns="60000" rIns="150000" bIns="60000" anchor="ctr"/>
          <a:lstStyle/>
          <a:p>
            <a:pPr algn="l">
              <a:buNone/>
            </a:pPr>
            <a:r>
              <a:rPr lang="en-US" sz="1800" dirty="0">
                <a:solidFill>
                  <a:srgbClr val="FFFFFF"/>
                </a:solidFill>
              </a:rPr>
              <a:t>A worker is logged into the system</a:t>
            </a:r>
          </a:p>
        </p:txBody>
      </p:sp>
      <p:sp>
        <p:nvSpPr>
          <p:cNvPr id="202" name="GWTBadge"/>
          <p:cNvSpPr>
            <a:spLocks noGrp="1"/>
          </p:cNvSpPr>
          <p:nvPr/>
        </p:nvSpPr>
        <p:spPr>
          <a:xfrm>
            <a:off x="508000" y="2794000"/>
            <a:ext cx="1651000" cy="914400"/>
          </a:xfrm>
          <a:prstGeom prst="roundRect">
            <a:avLst>
              <a:gd name="adj" fmla="val 30000"/>
            </a:avLst>
          </a:prstGeom>
          <a:solidFill>
            <a:srgbClr val="00C8FF"/>
          </a:solidFill>
          <a:ln>
            <a:noFill/>
          </a:ln>
        </p:spPr>
        <p:txBody>
          <a:bodyPr wrap="square" lIns="60000" tIns="40000" rIns="60000" bIns="40000" anchor="ctr"/>
          <a:lstStyle/>
          <a:p>
            <a:pPr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WHEN</a:t>
            </a:r>
          </a:p>
        </p:txBody>
      </p:sp>
      <p:sp>
        <p:nvSpPr>
          <p:cNvPr id="203" name="GWTCard"/>
          <p:cNvSpPr>
            <a:spLocks noGrp="1"/>
          </p:cNvSpPr>
          <p:nvPr/>
        </p:nvSpPr>
        <p:spPr>
          <a:xfrm>
            <a:off x="2349500" y="2794000"/>
            <a:ext cx="9334500" cy="914400"/>
          </a:xfrm>
          <a:prstGeom prst="roundRect">
            <a:avLst>
              <a:gd name="adj" fmla="val 10000"/>
            </a:avLst>
          </a:prstGeom>
          <a:solidFill>
            <a:srgbClr val="0A1A2A"/>
          </a:solidFill>
          <a:ln w="15875">
            <a:solidFill>
              <a:srgbClr val="00C8FF"/>
            </a:solidFill>
          </a:ln>
        </p:spPr>
        <p:txBody>
          <a:bodyPr wrap="square" lIns="150000" tIns="60000" rIns="150000" bIns="60000" anchor="ctr"/>
          <a:lstStyle/>
          <a:p>
            <a:pPr algn="l">
              <a:buNone/>
            </a:pPr>
            <a:r>
              <a:rPr lang="en-US" sz="1800" dirty="0">
                <a:solidFill>
                  <a:srgbClr val="FFFFFF"/>
                </a:solidFill>
              </a:rPr>
              <a:t>They submit a new safety incident report</a:t>
            </a:r>
          </a:p>
        </p:txBody>
      </p:sp>
      <p:sp>
        <p:nvSpPr>
          <p:cNvPr id="204" name="GWTBadge"/>
          <p:cNvSpPr>
            <a:spLocks noGrp="1"/>
          </p:cNvSpPr>
          <p:nvPr/>
        </p:nvSpPr>
        <p:spPr>
          <a:xfrm>
            <a:off x="508000" y="3746500"/>
            <a:ext cx="1651000" cy="914400"/>
          </a:xfrm>
          <a:prstGeom prst="roundRect">
            <a:avLst>
              <a:gd name="adj" fmla="val 30000"/>
            </a:avLst>
          </a:prstGeom>
          <a:solidFill>
            <a:srgbClr val="FF2DAA"/>
          </a:solidFill>
          <a:ln>
            <a:noFill/>
          </a:ln>
        </p:spPr>
        <p:txBody>
          <a:bodyPr wrap="square" lIns="60000" tIns="40000" rIns="60000" bIns="40000" anchor="ctr"/>
          <a:lstStyle/>
          <a:p>
            <a:pPr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THEN</a:t>
            </a:r>
          </a:p>
        </p:txBody>
      </p:sp>
      <p:sp>
        <p:nvSpPr>
          <p:cNvPr id="205" name="GWTCard"/>
          <p:cNvSpPr>
            <a:spLocks noGrp="1"/>
          </p:cNvSpPr>
          <p:nvPr/>
        </p:nvSpPr>
        <p:spPr>
          <a:xfrm>
            <a:off x="2349500" y="3746500"/>
            <a:ext cx="9334500" cy="914400"/>
          </a:xfrm>
          <a:prstGeom prst="roundRect">
            <a:avLst>
              <a:gd name="adj" fmla="val 10000"/>
            </a:avLst>
          </a:prstGeom>
          <a:solidFill>
            <a:srgbClr val="2A0A1A"/>
          </a:solidFill>
          <a:ln w="15875">
            <a:solidFill>
              <a:srgbClr val="FF2DAA"/>
            </a:solidFill>
          </a:ln>
        </p:spPr>
        <p:txBody>
          <a:bodyPr wrap="square" lIns="150000" tIns="60000" rIns="150000" bIns="60000" anchor="ctr"/>
          <a:lstStyle/>
          <a:p>
            <a:pPr algn="l">
              <a:buNone/>
            </a:pPr>
            <a:r>
              <a:rPr lang="en-US" sz="1800" dirty="0">
                <a:solidFill>
                  <a:srgbClr val="FFFFFF"/>
                </a:solidFill>
              </a:rPr>
              <a:t>The incident is saved and a notification is sent</a:t>
            </a:r>
          </a:p>
        </p:txBody>
      </p:sp>
      <p:sp>
        <p:nvSpPr>
          <p:cNvPr id="206" name="QuoteCallout"/>
          <p:cNvSpPr>
            <a:spLocks noGrp="1"/>
          </p:cNvSpPr>
          <p:nvPr/>
        </p:nvSpPr>
        <p:spPr>
          <a:xfrm>
            <a:off x="508000" y="4762500"/>
            <a:ext cx="11176000" cy="698500"/>
          </a:xfrm>
          <a:prstGeom prst="roundRect">
            <a:avLst>
              <a:gd name="adj" fmla="val 15000"/>
            </a:avLst>
          </a:prstGeom>
          <a:solidFill>
            <a:srgbClr val="0D0D1A"/>
          </a:solidFill>
          <a:ln w="19050">
            <a:solidFill>
              <a:srgbClr val="39FF14"/>
            </a:solidFill>
          </a:ln>
        </p:spPr>
        <p:txBody>
          <a:bodyPr wrap="square" lIns="180000" tIns="80000" rIns="180000" bIns="80000" anchor="ctr"/>
          <a:lstStyle/>
          <a:p>
            <a:pPr algn="ctr">
              <a:buNone/>
            </a:pPr>
            <a:r>
              <a:rPr lang="en-US" sz="1200" b="1" dirty="0">
                <a:solidFill>
                  <a:srgbClr val="00C8FF"/>
                </a:solidFill>
              </a:rPr>
              <a:t>KEN:  </a:t>
            </a:r>
            <a:r>
              <a:rPr lang="en-US" sz="1800" b="1" i="1" dirty="0">
                <a:solidFill>
                  <a:srgbClr val="39FF14"/>
                </a:solidFill>
              </a:rPr>
              <a:t>"Readable by humans. Testable by machines."</a:t>
            </a:r>
          </a:p>
        </p:txBody>
      </p:sp>
    </p:spTree>
    <p:extLst>
      <p:ext uri="{BB962C8B-B14F-4D97-AF65-F5344CB8AC3E}">
        <p14:creationId xmlns:p14="http://schemas.microsoft.com/office/powerpoint/2010/main" val="1923252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782936-FAB7-4B9C-B95B-45D141C42FD7}"/>
              </a:ext>
            </a:extLst>
          </p:cNvPr>
          <p:cNvSpPr txBox="1"/>
          <p:nvPr/>
        </p:nvSpPr>
        <p:spPr>
          <a:xfrm>
            <a:off x="508000" y="127000"/>
            <a:ext cx="1117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000" b="1" dirty="0">
                <a:solidFill>
                  <a:srgbClr val="FFFFFF"/>
                </a:solidFill>
              </a:rPr>
              <a:t>SDD: Spec Driven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DDC0B-DDB2-43BF-88E3-D68A76121AB4}"/>
              </a:ext>
            </a:extLst>
          </p:cNvPr>
          <p:cNvSpPr txBox="1"/>
          <p:nvPr/>
        </p:nvSpPr>
        <p:spPr>
          <a:xfrm>
            <a:off x="508000" y="1016000"/>
            <a:ext cx="1117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i="1" dirty="0">
                <a:solidFill>
                  <a:srgbClr val="A0A0A0"/>
                </a:solidFill>
              </a:rPr>
              <a:t>The specification IS the source of truth</a:t>
            </a:r>
          </a:p>
          <a:p>
            <a:pPr>
              <a:buNone/>
            </a:pPr>
            <a:r>
              <a:rPr lang="en-US" sz="1600" i="1" dirty="0">
                <a:solidFill>
                  <a:srgbClr val="FF2DAA"/>
                </a:solidFill>
              </a:rPr>
              <a:t>Prompt: “Write a spec using GIVEN / WHEN / THEN / SO THAT / AS MEASURED BY.”</a:t>
            </a:r>
          </a:p>
        </p:txBody>
      </p:sp>
      <p:sp>
        <p:nvSpPr>
          <p:cNvPr id="300" name="SDDBadge"/>
          <p:cNvSpPr>
            <a:spLocks noGrp="1"/>
          </p:cNvSpPr>
          <p:nvPr/>
        </p:nvSpPr>
        <p:spPr>
          <a:xfrm>
            <a:off x="508000" y="2095500"/>
            <a:ext cx="2032000" cy="584200"/>
          </a:xfrm>
          <a:prstGeom prst="roundRect">
            <a:avLst>
              <a:gd name="adj" fmla="val 25000"/>
            </a:avLst>
          </a:prstGeom>
          <a:solidFill>
            <a:srgbClr val="39FF14"/>
          </a:solidFill>
          <a:ln>
            <a:noFill/>
          </a:ln>
        </p:spPr>
        <p:txBody>
          <a:bodyPr wrap="square" lIns="40000" tIns="30000" rIns="40000" bIns="30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0000"/>
                </a:solidFill>
              </a:rPr>
              <a:t>GIVEN</a:t>
            </a:r>
          </a:p>
        </p:txBody>
      </p:sp>
      <p:sp>
        <p:nvSpPr>
          <p:cNvPr id="301" name="SDDRow"/>
          <p:cNvSpPr>
            <a:spLocks noGrp="1"/>
          </p:cNvSpPr>
          <p:nvPr/>
        </p:nvSpPr>
        <p:spPr>
          <a:xfrm>
            <a:off x="2667000" y="2095500"/>
            <a:ext cx="9017000" cy="584200"/>
          </a:xfrm>
          <a:prstGeom prst="roundRect">
            <a:avLst>
              <a:gd name="adj" fmla="val 10000"/>
            </a:avLst>
          </a:prstGeom>
          <a:solidFill>
            <a:srgbClr val="0A2A0A"/>
          </a:solidFill>
          <a:ln w="12700">
            <a:solidFill>
              <a:srgbClr val="39FF14"/>
            </a:solidFill>
          </a:ln>
        </p:spPr>
        <p:txBody>
          <a:bodyPr wrap="square" lIns="120000" tIns="40000" rIns="120000" bIns="40000" anchor="ctr"/>
          <a:lstStyle/>
          <a:p>
            <a:pPr algn="l">
              <a:buNone/>
            </a:pPr>
            <a:r>
              <a:rPr lang="en-US" sz="1600" dirty="0">
                <a:solidFill>
                  <a:srgbClr val="FFFFFF"/>
                </a:solidFill>
              </a:rPr>
              <a:t>A logged-in worker</a:t>
            </a:r>
          </a:p>
        </p:txBody>
      </p:sp>
      <p:sp>
        <p:nvSpPr>
          <p:cNvPr id="302" name="SDDBadge"/>
          <p:cNvSpPr>
            <a:spLocks noGrp="1"/>
          </p:cNvSpPr>
          <p:nvPr/>
        </p:nvSpPr>
        <p:spPr>
          <a:xfrm>
            <a:off x="508000" y="2768600"/>
            <a:ext cx="2032000" cy="584200"/>
          </a:xfrm>
          <a:prstGeom prst="roundRect">
            <a:avLst>
              <a:gd name="adj" fmla="val 25000"/>
            </a:avLst>
          </a:prstGeom>
          <a:solidFill>
            <a:srgbClr val="00C8FF"/>
          </a:solidFill>
          <a:ln>
            <a:noFill/>
          </a:ln>
        </p:spPr>
        <p:txBody>
          <a:bodyPr wrap="square" lIns="40000" tIns="30000" rIns="40000" bIns="30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0000"/>
                </a:solidFill>
              </a:rPr>
              <a:t>WHEN</a:t>
            </a:r>
          </a:p>
        </p:txBody>
      </p:sp>
      <p:sp>
        <p:nvSpPr>
          <p:cNvPr id="303" name="SDDRow"/>
          <p:cNvSpPr>
            <a:spLocks noGrp="1"/>
          </p:cNvSpPr>
          <p:nvPr/>
        </p:nvSpPr>
        <p:spPr>
          <a:xfrm>
            <a:off x="2667000" y="2768600"/>
            <a:ext cx="9017000" cy="584200"/>
          </a:xfrm>
          <a:prstGeom prst="roundRect">
            <a:avLst>
              <a:gd name="adj" fmla="val 10000"/>
            </a:avLst>
          </a:prstGeom>
          <a:solidFill>
            <a:srgbClr val="0A1A2A"/>
          </a:solidFill>
          <a:ln w="12700">
            <a:solidFill>
              <a:srgbClr val="00C8FF"/>
            </a:solidFill>
          </a:ln>
        </p:spPr>
        <p:txBody>
          <a:bodyPr wrap="square" lIns="120000" tIns="40000" rIns="120000" bIns="40000" anchor="ctr"/>
          <a:lstStyle/>
          <a:p>
            <a:pPr algn="l">
              <a:buNone/>
            </a:pPr>
            <a:r>
              <a:rPr lang="en-US" sz="1600" dirty="0">
                <a:solidFill>
                  <a:srgbClr val="FFFFFF"/>
                </a:solidFill>
              </a:rPr>
              <a:t>They submit a safety incident</a:t>
            </a:r>
          </a:p>
        </p:txBody>
      </p:sp>
      <p:sp>
        <p:nvSpPr>
          <p:cNvPr id="304" name="SDDBadge"/>
          <p:cNvSpPr>
            <a:spLocks noGrp="1"/>
          </p:cNvSpPr>
          <p:nvPr/>
        </p:nvSpPr>
        <p:spPr>
          <a:xfrm>
            <a:off x="508000" y="3441700"/>
            <a:ext cx="2032000" cy="584200"/>
          </a:xfrm>
          <a:prstGeom prst="roundRect">
            <a:avLst>
              <a:gd name="adj" fmla="val 25000"/>
            </a:avLst>
          </a:prstGeom>
          <a:solidFill>
            <a:srgbClr val="FF2DAA"/>
          </a:solidFill>
          <a:ln>
            <a:noFill/>
          </a:ln>
        </p:spPr>
        <p:txBody>
          <a:bodyPr wrap="square" lIns="40000" tIns="30000" rIns="40000" bIns="30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0000"/>
                </a:solidFill>
              </a:rPr>
              <a:t>THEN</a:t>
            </a:r>
          </a:p>
        </p:txBody>
      </p:sp>
      <p:sp>
        <p:nvSpPr>
          <p:cNvPr id="305" name="SDDRow"/>
          <p:cNvSpPr>
            <a:spLocks noGrp="1"/>
          </p:cNvSpPr>
          <p:nvPr/>
        </p:nvSpPr>
        <p:spPr>
          <a:xfrm>
            <a:off x="2667000" y="3441700"/>
            <a:ext cx="9017000" cy="584200"/>
          </a:xfrm>
          <a:prstGeom prst="roundRect">
            <a:avLst>
              <a:gd name="adj" fmla="val 10000"/>
            </a:avLst>
          </a:prstGeom>
          <a:solidFill>
            <a:srgbClr val="2A0A1A"/>
          </a:solidFill>
          <a:ln w="12700">
            <a:solidFill>
              <a:srgbClr val="FF2DAA"/>
            </a:solidFill>
          </a:ln>
        </p:spPr>
        <p:txBody>
          <a:bodyPr wrap="square" lIns="120000" tIns="40000" rIns="120000" bIns="40000" anchor="ctr"/>
          <a:lstStyle/>
          <a:p>
            <a:pPr algn="l">
              <a:buNone/>
            </a:pPr>
            <a:r>
              <a:rPr lang="en-US" sz="1600" dirty="0">
                <a:solidFill>
                  <a:srgbClr val="FFFFFF"/>
                </a:solidFill>
              </a:rPr>
              <a:t>It is saved with a timestamp</a:t>
            </a:r>
          </a:p>
        </p:txBody>
      </p:sp>
      <p:sp>
        <p:nvSpPr>
          <p:cNvPr id="306" name="SDDBadge"/>
          <p:cNvSpPr>
            <a:spLocks noGrp="1"/>
          </p:cNvSpPr>
          <p:nvPr/>
        </p:nvSpPr>
        <p:spPr>
          <a:xfrm>
            <a:off x="508000" y="4114800"/>
            <a:ext cx="2032000" cy="584200"/>
          </a:xfrm>
          <a:prstGeom prst="roundRect">
            <a:avLst>
              <a:gd name="adj" fmla="val 25000"/>
            </a:avLst>
          </a:prstGeom>
          <a:solidFill>
            <a:srgbClr val="FFD300"/>
          </a:solidFill>
          <a:ln>
            <a:noFill/>
          </a:ln>
        </p:spPr>
        <p:txBody>
          <a:bodyPr wrap="square" lIns="40000" tIns="30000" rIns="40000" bIns="30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0000"/>
                </a:solidFill>
              </a:rPr>
              <a:t>SO THAT</a:t>
            </a:r>
          </a:p>
        </p:txBody>
      </p:sp>
      <p:sp>
        <p:nvSpPr>
          <p:cNvPr id="307" name="SDDRow"/>
          <p:cNvSpPr>
            <a:spLocks noGrp="1"/>
          </p:cNvSpPr>
          <p:nvPr/>
        </p:nvSpPr>
        <p:spPr>
          <a:xfrm>
            <a:off x="2667000" y="4114800"/>
            <a:ext cx="9017000" cy="584200"/>
          </a:xfrm>
          <a:prstGeom prst="roundRect">
            <a:avLst>
              <a:gd name="adj" fmla="val 10000"/>
            </a:avLst>
          </a:prstGeom>
          <a:solidFill>
            <a:srgbClr val="2A1A0A"/>
          </a:solidFill>
          <a:ln w="12700">
            <a:solidFill>
              <a:srgbClr val="FFD300"/>
            </a:solidFill>
          </a:ln>
        </p:spPr>
        <p:txBody>
          <a:bodyPr wrap="square" lIns="120000" tIns="40000" rIns="120000" bIns="40000" anchor="ctr"/>
          <a:lstStyle/>
          <a:p>
            <a:pPr algn="l">
              <a:buNone/>
            </a:pPr>
            <a:r>
              <a:rPr lang="en-US" sz="1600" dirty="0">
                <a:solidFill>
                  <a:srgbClr val="FFFFFF"/>
                </a:solidFill>
              </a:rPr>
              <a:t>Safety managers can track trends</a:t>
            </a:r>
          </a:p>
        </p:txBody>
      </p:sp>
      <p:sp>
        <p:nvSpPr>
          <p:cNvPr id="308" name="SDDBadge"/>
          <p:cNvSpPr>
            <a:spLocks noGrp="1"/>
          </p:cNvSpPr>
          <p:nvPr/>
        </p:nvSpPr>
        <p:spPr>
          <a:xfrm>
            <a:off x="508000" y="4787900"/>
            <a:ext cx="2032000" cy="584200"/>
          </a:xfrm>
          <a:prstGeom prst="roundRect">
            <a:avLst>
              <a:gd name="adj" fmla="val 25000"/>
            </a:avLst>
          </a:prstGeom>
          <a:solidFill>
            <a:srgbClr val="D53DD0"/>
          </a:solidFill>
          <a:ln>
            <a:noFill/>
          </a:ln>
        </p:spPr>
        <p:txBody>
          <a:bodyPr wrap="square" lIns="40000" tIns="30000" rIns="40000" bIns="30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0000"/>
                </a:solidFill>
              </a:rPr>
              <a:t>MEASURED BY</a:t>
            </a:r>
          </a:p>
        </p:txBody>
      </p:sp>
      <p:sp>
        <p:nvSpPr>
          <p:cNvPr id="309" name="SDDRow"/>
          <p:cNvSpPr>
            <a:spLocks noGrp="1"/>
          </p:cNvSpPr>
          <p:nvPr/>
        </p:nvSpPr>
        <p:spPr>
          <a:xfrm>
            <a:off x="2667000" y="4787900"/>
            <a:ext cx="9017000" cy="584200"/>
          </a:xfrm>
          <a:prstGeom prst="roundRect">
            <a:avLst>
              <a:gd name="adj" fmla="val 10000"/>
            </a:avLst>
          </a:prstGeom>
          <a:solidFill>
            <a:srgbClr val="1A0A2A"/>
          </a:solidFill>
          <a:ln w="12700">
            <a:solidFill>
              <a:srgbClr val="D53DD0"/>
            </a:solidFill>
          </a:ln>
        </p:spPr>
        <p:txBody>
          <a:bodyPr wrap="square" lIns="120000" tIns="40000" rIns="120000" bIns="40000" anchor="ctr"/>
          <a:lstStyle/>
          <a:p>
            <a:pPr algn="l">
              <a:buNone/>
            </a:pPr>
            <a:r>
              <a:rPr lang="en-US" sz="1600" dirty="0">
                <a:solidFill>
                  <a:srgbClr val="FFFFFF"/>
                </a:solidFill>
              </a:rPr>
              <a:t>100% of incidents have all required fields</a:t>
            </a:r>
          </a:p>
        </p:txBody>
      </p:sp>
      <p:sp>
        <p:nvSpPr>
          <p:cNvPr id="310" name="QuoteCallout"/>
          <p:cNvSpPr>
            <a:spLocks noGrp="1"/>
          </p:cNvSpPr>
          <p:nvPr/>
        </p:nvSpPr>
        <p:spPr>
          <a:xfrm>
            <a:off x="508000" y="5435600"/>
            <a:ext cx="11176000" cy="660400"/>
          </a:xfrm>
          <a:prstGeom prst="roundRect">
            <a:avLst>
              <a:gd name="adj" fmla="val 15000"/>
            </a:avLst>
          </a:prstGeom>
          <a:solidFill>
            <a:srgbClr val="0D0D1A"/>
          </a:solidFill>
          <a:ln w="19050">
            <a:solidFill>
              <a:srgbClr val="FF2DAA"/>
            </a:solidFill>
          </a:ln>
        </p:spPr>
        <p:txBody>
          <a:bodyPr wrap="square" lIns="180000" tIns="60000" rIns="180000" bIns="60000" anchor="ctr"/>
          <a:lstStyle/>
          <a:p>
            <a:pPr algn="ctr">
              <a:buNone/>
            </a:pPr>
            <a:r>
              <a:rPr lang="en-US" sz="1200" b="1" dirty="0">
                <a:solidFill>
                  <a:srgbClr val="00C8FF"/>
                </a:solidFill>
              </a:rPr>
              <a:t>KEN:  </a:t>
            </a:r>
            <a:r>
              <a:rPr lang="en-US" sz="1600" b="1" i="1" dirty="0">
                <a:solidFill>
                  <a:srgbClr val="FFFFFF"/>
                </a:solidFill>
              </a:rPr>
              <a:t>"This is the contract. This is the blueprint. This is how you prevent vibe-driven disasters."</a:t>
            </a:r>
          </a:p>
        </p:txBody>
      </p:sp>
    </p:spTree>
    <p:extLst>
      <p:ext uri="{BB962C8B-B14F-4D97-AF65-F5344CB8AC3E}">
        <p14:creationId xmlns:p14="http://schemas.microsoft.com/office/powerpoint/2010/main" val="2400707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4993A1-33FD-4B90-8FEC-C1FC7D072C3C}"/>
              </a:ext>
            </a:extLst>
          </p:cNvPr>
          <p:cNvSpPr txBox="1"/>
          <p:nvPr/>
        </p:nvSpPr>
        <p:spPr>
          <a:xfrm>
            <a:off x="508000" y="127000"/>
            <a:ext cx="1117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That Was Paired Programming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4E4C6-0068-42CE-8593-1E37F066AE45}"/>
              </a:ext>
            </a:extLst>
          </p:cNvPr>
          <p:cNvSpPr txBox="1"/>
          <p:nvPr/>
        </p:nvSpPr>
        <p:spPr>
          <a:xfrm>
            <a:off x="508000" y="1016000"/>
            <a:ext cx="11176000" cy="800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rgbClr val="CCCCCC"/>
                </a:solidFill>
              </a:rPr>
              <a:t>Remember when Ken and Don were refining the OSHA plan together?</a:t>
            </a:r>
          </a:p>
          <a:p>
            <a:pPr>
              <a:buNone/>
            </a:pPr>
            <a:r>
              <a:rPr lang="en-US" sz="1800" dirty="0">
                <a:solidFill>
                  <a:srgbClr val="CCCCCC"/>
                </a:solidFill>
              </a:rPr>
              <a:t>That was paired programming — they just didn’t name it.</a:t>
            </a:r>
          </a:p>
        </p:txBody>
      </p:sp>
      <p:sp>
        <p:nvSpPr>
          <p:cNvPr id="400" name="Connector"/>
          <p:cNvSpPr>
            <a:spLocks noGrp="1"/>
          </p:cNvSpPr>
          <p:nvPr/>
        </p:nvSpPr>
        <p:spPr>
          <a:xfrm>
            <a:off x="17780000" y="0"/>
            <a:ext cx="50800" cy="508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/>
          <a:lstStyle/>
          <a:p>
            <a:endParaRPr>
              <a:solidFill>
                <a:srgbClr val="444444"/>
              </a:solidFill>
            </a:endParaRPr>
          </a:p>
        </p:txBody>
      </p:sp>
      <p:sp>
        <p:nvSpPr>
          <p:cNvPr id="401" name="Connector"/>
          <p:cNvSpPr>
            <a:spLocks noGrp="1"/>
          </p:cNvSpPr>
          <p:nvPr/>
        </p:nvSpPr>
        <p:spPr>
          <a:xfrm rot="1886568">
            <a:off x="1965960" y="3456432"/>
            <a:ext cx="4133088" cy="32918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/>
          <a:lstStyle/>
          <a:p>
            <a:endParaRPr>
              <a:solidFill>
                <a:srgbClr val="444444"/>
              </a:solidFill>
            </a:endParaRPr>
          </a:p>
        </p:txBody>
      </p:sp>
      <p:sp>
        <p:nvSpPr>
          <p:cNvPr id="402" name="Connector"/>
          <p:cNvSpPr>
            <a:spLocks noGrp="1"/>
          </p:cNvSpPr>
          <p:nvPr/>
        </p:nvSpPr>
        <p:spPr>
          <a:xfrm rot="8913432" flipH="1">
            <a:off x="6099048" y="3456432"/>
            <a:ext cx="4123944" cy="32918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/>
          <a:lstStyle/>
          <a:p>
            <a:endParaRPr>
              <a:solidFill>
                <a:srgbClr val="444444"/>
              </a:solidFill>
            </a:endParaRPr>
          </a:p>
        </p:txBody>
      </p:sp>
      <p:sp>
        <p:nvSpPr>
          <p:cNvPr id="403" name="PairNode"/>
          <p:cNvSpPr>
            <a:spLocks noGrp="1"/>
          </p:cNvSpPr>
          <p:nvPr/>
        </p:nvSpPr>
        <p:spPr>
          <a:xfrm>
            <a:off x="1097280" y="1929384"/>
            <a:ext cx="1737360" cy="1527048"/>
          </a:xfrm>
          <a:prstGeom prst="roundRect">
            <a:avLst>
              <a:gd name="adj" fmla="val 15000"/>
            </a:avLst>
          </a:prstGeom>
          <a:solidFill>
            <a:srgbClr val="0A2A0A"/>
          </a:solidFill>
          <a:ln w="28575">
            <a:solidFill>
              <a:srgbClr val="39FF14"/>
            </a:solidFill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n-US" sz="2800" b="1" dirty="0">
                <a:solidFill>
                  <a:srgbClr val="39FF14"/>
                </a:solidFill>
              </a:rPr>
              <a:t>DON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400" b="1" dirty="0">
                <a:solidFill>
                  <a:srgbClr val="CCCCCC"/>
                </a:solidFill>
              </a:rPr>
              <a:t>STEERS</a:t>
            </a:r>
          </a:p>
        </p:txBody>
      </p:sp>
      <p:sp>
        <p:nvSpPr>
          <p:cNvPr id="404" name="PairNode"/>
          <p:cNvSpPr>
            <a:spLocks noGrp="1"/>
          </p:cNvSpPr>
          <p:nvPr/>
        </p:nvSpPr>
        <p:spPr>
          <a:xfrm>
            <a:off x="9354312" y="1929384"/>
            <a:ext cx="1737360" cy="1527048"/>
          </a:xfrm>
          <a:prstGeom prst="roundRect">
            <a:avLst>
              <a:gd name="adj" fmla="val 15000"/>
            </a:avLst>
          </a:prstGeom>
          <a:solidFill>
            <a:srgbClr val="0A1A2A"/>
          </a:solidFill>
          <a:ln w="28575">
            <a:solidFill>
              <a:srgbClr val="00C8FF"/>
            </a:solidFill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n-US" sz="2800" b="1" dirty="0">
                <a:solidFill>
                  <a:srgbClr val="00C8FF"/>
                </a:solidFill>
              </a:rPr>
              <a:t>KEN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400" b="1" dirty="0">
                <a:solidFill>
                  <a:srgbClr val="CCCCCC"/>
                </a:solidFill>
              </a:rPr>
              <a:t>QUESTIONS</a:t>
            </a:r>
          </a:p>
        </p:txBody>
      </p:sp>
      <p:sp>
        <p:nvSpPr>
          <p:cNvPr id="405" name="PairNode"/>
          <p:cNvSpPr>
            <a:spLocks noGrp="1"/>
          </p:cNvSpPr>
          <p:nvPr/>
        </p:nvSpPr>
        <p:spPr>
          <a:xfrm>
            <a:off x="5230368" y="3785616"/>
            <a:ext cx="1737360" cy="1527048"/>
          </a:xfrm>
          <a:prstGeom prst="roundRect">
            <a:avLst>
              <a:gd name="adj" fmla="val 15000"/>
            </a:avLst>
          </a:prstGeom>
          <a:solidFill>
            <a:srgbClr val="2A1A0A"/>
          </a:solidFill>
          <a:ln w="28575">
            <a:solidFill>
              <a:srgbClr val="FFD300"/>
            </a:solidFill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D300"/>
                </a:solidFill>
              </a:rPr>
              <a:t>AI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400" b="1" dirty="0">
                <a:solidFill>
                  <a:srgbClr val="CCCCCC"/>
                </a:solidFill>
              </a:rPr>
              <a:t>ASSISTS</a:t>
            </a:r>
          </a:p>
        </p:txBody>
      </p:sp>
      <p:sp>
        <p:nvSpPr>
          <p:cNvPr id="406" name="QuoteCallout"/>
          <p:cNvSpPr>
            <a:spLocks noGrp="1"/>
          </p:cNvSpPr>
          <p:nvPr/>
        </p:nvSpPr>
        <p:spPr>
          <a:xfrm>
            <a:off x="548640" y="5431536"/>
            <a:ext cx="11091672" cy="402336"/>
          </a:xfrm>
          <a:prstGeom prst="roundRect">
            <a:avLst>
              <a:gd name="adj" fmla="val 15000"/>
            </a:avLst>
          </a:prstGeom>
          <a:solidFill>
            <a:srgbClr val="0D0D1A"/>
          </a:solidFill>
          <a:ln w="19050">
            <a:solidFill>
              <a:srgbClr val="39FF14"/>
            </a:solidFill>
          </a:ln>
        </p:spPr>
        <p:txBody>
          <a:bodyPr wrap="square" lIns="182880" tIns="45720" rIns="182880" bIns="4572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00C8FF"/>
                </a:solidFill>
              </a:rPr>
              <a:t>KEN:  </a:t>
            </a:r>
            <a:r>
              <a:rPr lang="en-US" sz="1800" b="1" i="1" dirty="0">
                <a:solidFill>
                  <a:srgbClr val="39FF14"/>
                </a:solidFill>
              </a:rPr>
              <a:t>"No vibes. Just collaboration. And that's the future."</a:t>
            </a:r>
          </a:p>
        </p:txBody>
      </p:sp>
    </p:spTree>
    <p:extLst>
      <p:ext uri="{BB962C8B-B14F-4D97-AF65-F5344CB8AC3E}">
        <p14:creationId xmlns:p14="http://schemas.microsoft.com/office/powerpoint/2010/main" val="4111247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E461F4-B0E2-41DA-8836-8704066959B8}"/>
              </a:ext>
            </a:extLst>
          </p:cNvPr>
          <p:cNvSpPr txBox="1"/>
          <p:nvPr/>
        </p:nvSpPr>
        <p:spPr>
          <a:xfrm>
            <a:off x="512064" y="127000"/>
            <a:ext cx="11173968" cy="203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AI doesn't replace </a:t>
            </a:r>
            <a:r>
              <a:rPr lang="en-US" sz="3200" b="1" dirty="0">
                <a:solidFill>
                  <a:srgbClr val="39FF14"/>
                </a:solidFill>
              </a:rPr>
              <a:t>people</a:t>
            </a:r>
            <a:r>
              <a:rPr lang="en-US" sz="3200" b="1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1200"/>
              </a:spcBef>
              <a:buNone/>
            </a:pPr>
            <a:r>
              <a:rPr lang="en-US" sz="2200" dirty="0">
                <a:solidFill>
                  <a:srgbClr val="FFFFFF"/>
                </a:solidFill>
              </a:rPr>
              <a:t>AI doesn't replace </a:t>
            </a:r>
            <a:r>
              <a:rPr lang="en-US" sz="2200" b="1" dirty="0">
                <a:solidFill>
                  <a:srgbClr val="00C8FF"/>
                </a:solidFill>
              </a:rPr>
              <a:t>developers</a:t>
            </a:r>
            <a:r>
              <a:rPr lang="en-US" sz="2200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solidFill>
                  <a:srgbClr val="FFFFFF"/>
                </a:solidFill>
              </a:rPr>
              <a:t>AI doesn't replace </a:t>
            </a:r>
            <a:r>
              <a:rPr lang="en-US" sz="2200" b="1" dirty="0">
                <a:solidFill>
                  <a:srgbClr val="FF2DAA"/>
                </a:solidFill>
              </a:rPr>
              <a:t>testers</a:t>
            </a:r>
            <a:r>
              <a:rPr lang="en-US" sz="2200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solidFill>
                  <a:srgbClr val="FFFFFF"/>
                </a:solidFill>
              </a:rPr>
              <a:t>AI doesn't replace </a:t>
            </a:r>
            <a:r>
              <a:rPr lang="en-US" sz="2200" b="1" dirty="0">
                <a:solidFill>
                  <a:srgbClr val="FFD300"/>
                </a:solidFill>
              </a:rPr>
              <a:t>business owners</a:t>
            </a:r>
            <a:r>
              <a:rPr lang="en-US" sz="22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9C1AB0-05AD-4AAA-86AE-05B985F159D7}"/>
              </a:ext>
            </a:extLst>
          </p:cNvPr>
          <p:cNvSpPr txBox="1"/>
          <p:nvPr/>
        </p:nvSpPr>
        <p:spPr>
          <a:xfrm>
            <a:off x="512064" y="2362200"/>
            <a:ext cx="11173968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noAutofit/>
          </a:bodyPr>
          <a:lstStyle/>
          <a:p>
            <a:pPr>
              <a:buNone/>
            </a:pPr>
            <a:r>
              <a:rPr lang="en-US" sz="4800" b="1" dirty="0">
                <a:solidFill>
                  <a:srgbClr val="39FF14"/>
                </a:solidFill>
              </a:rPr>
              <a:t>AI replaces guessing.</a:t>
            </a:r>
          </a:p>
        </p:txBody>
      </p:sp>
      <p:sp>
        <p:nvSpPr>
          <p:cNvPr id="500" name="SubtextBox"/>
          <p:cNvSpPr>
            <a:spLocks noGrp="1"/>
          </p:cNvSpPr>
          <p:nvPr/>
        </p:nvSpPr>
        <p:spPr>
          <a:xfrm>
            <a:off x="512064" y="3276600"/>
            <a:ext cx="11173968" cy="317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>
              <a:buNone/>
            </a:pPr>
            <a:r>
              <a:rPr lang="en-US" sz="1800" dirty="0">
                <a:solidFill>
                  <a:srgbClr val="CCCCCC"/>
                </a:solidFill>
              </a:rPr>
              <a:t>TDD, BDD, and SDD are how you remove the guesswork.</a:t>
            </a:r>
          </a:p>
        </p:txBody>
      </p:sp>
      <p:sp>
        <p:nvSpPr>
          <p:cNvPr id="502" name="Divider"/>
          <p:cNvSpPr>
            <a:spLocks noGrp="1"/>
          </p:cNvSpPr>
          <p:nvPr/>
        </p:nvSpPr>
        <p:spPr>
          <a:xfrm>
            <a:off x="512064" y="2184400"/>
            <a:ext cx="11173968" cy="508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/>
          <a:lstStyle/>
          <a:p>
            <a:r>
              <a:rPr lang="en-US" sz="100" dirty="0"/>
              <a:t> </a:t>
            </a:r>
          </a:p>
        </p:txBody>
      </p:sp>
      <p:sp>
        <p:nvSpPr>
          <p:cNvPr id="2" name="SignoffBox">
            <a:extLst>
              <a:ext uri="{FF2B5EF4-FFF2-40B4-BE49-F238E27FC236}">
                <a16:creationId xmlns:a16="http://schemas.microsoft.com/office/drawing/2014/main" id="{553A58E8-3C05-B622-198A-41F56B927E19}"/>
              </a:ext>
            </a:extLst>
          </p:cNvPr>
          <p:cNvSpPr>
            <a:spLocks noGrp="1"/>
          </p:cNvSpPr>
          <p:nvPr/>
        </p:nvSpPr>
        <p:spPr>
          <a:xfrm>
            <a:off x="512064" y="5588000"/>
            <a:ext cx="11173968" cy="3556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</a:rPr>
              <a:t>But Wait – There is more!</a:t>
            </a:r>
          </a:p>
        </p:txBody>
      </p:sp>
    </p:spTree>
    <p:extLst>
      <p:ext uri="{BB962C8B-B14F-4D97-AF65-F5344CB8AC3E}">
        <p14:creationId xmlns:p14="http://schemas.microsoft.com/office/powerpoint/2010/main" val="1180132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515DD-5B58-EB94-C942-5B348E937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VectorRen</a:t>
            </a:r>
            <a:r>
              <a:rPr lang="en-US" dirty="0"/>
              <a:t> &amp; </a:t>
            </a:r>
            <a:r>
              <a:rPr lang="en-US" dirty="0" err="1"/>
              <a:t>Vectoroids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AC8AE-8811-D106-5DDA-FCF0D4894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1950720"/>
            <a:ext cx="4889500" cy="4069079"/>
          </a:xfrm>
        </p:spPr>
        <p:txBody>
          <a:bodyPr anchor="t"/>
          <a:lstStyle/>
          <a:p>
            <a:pPr marL="342900" indent="-342900">
              <a:lnSpc>
                <a:spcPts val="14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39FF14"/>
                </a:solidFill>
              </a:rPr>
              <a:t>▸ </a:t>
            </a:r>
            <a:r>
              <a:rPr lang="en-US" sz="1800" dirty="0">
                <a:solidFill>
                  <a:srgbClr val="F1F5F9"/>
                </a:solidFill>
              </a:rPr>
              <a:t>Web-based · no dependencies · SVG</a:t>
            </a:r>
          </a:p>
          <a:p>
            <a:pPr marL="342900" indent="-342900">
              <a:lnSpc>
                <a:spcPts val="14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C8FF"/>
                </a:solidFill>
              </a:rPr>
              <a:t>▸ </a:t>
            </a:r>
            <a:r>
              <a:rPr lang="en-US" sz="1800" dirty="0">
                <a:solidFill>
                  <a:srgbClr val="F1F5F9"/>
                </a:solidFill>
              </a:rPr>
              <a:t>Clean specs</a:t>
            </a:r>
          </a:p>
          <a:p>
            <a:pPr marL="342900" indent="-342900">
              <a:lnSpc>
                <a:spcPts val="14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7A00"/>
                </a:solidFill>
              </a:rPr>
              <a:t>▸ </a:t>
            </a:r>
            <a:r>
              <a:rPr lang="en-US" sz="1800" dirty="0">
                <a:solidFill>
                  <a:srgbClr val="F1F5F9"/>
                </a:solidFill>
              </a:rPr>
              <a:t>BDD-driven</a:t>
            </a:r>
          </a:p>
          <a:p>
            <a:pPr marL="342900" indent="-342900">
              <a:lnSpc>
                <a:spcPts val="14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D300"/>
                </a:solidFill>
              </a:rPr>
              <a:t>▸ </a:t>
            </a:r>
            <a:r>
              <a:rPr lang="en-US" sz="1800" dirty="0">
                <a:solidFill>
                  <a:srgbClr val="F1F5F9"/>
                </a:solidFill>
              </a:rPr>
              <a:t>Built with a Coding Assistant</a:t>
            </a:r>
          </a:p>
          <a:p>
            <a:pPr marL="342900" indent="-342900">
              <a:lnSpc>
                <a:spcPts val="14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2DAA"/>
                </a:solidFill>
              </a:rPr>
              <a:t>▸ </a:t>
            </a:r>
            <a:r>
              <a:rPr lang="en-US" sz="1800" dirty="0">
                <a:solidFill>
                  <a:srgbClr val="F1F5F9"/>
                </a:solidFill>
              </a:rPr>
              <a:t>Born from curiosity &amp; mischief</a:t>
            </a:r>
          </a:p>
        </p:txBody>
      </p:sp>
      <p:pic>
        <p:nvPicPr>
          <p:cNvPr id="7" name="Picture 6" descr="VectorRen&#10;&#10;AI-generated content may be incorrect.">
            <a:extLst>
              <a:ext uri="{FF2B5EF4-FFF2-40B4-BE49-F238E27FC236}">
                <a16:creationId xmlns:a16="http://schemas.microsoft.com/office/drawing/2014/main" id="{7B876A90-3984-2724-3F95-DD9A6DF0F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923" y="1480049"/>
            <a:ext cx="4954260" cy="35517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F40CCA-8785-0CA3-DF9A-A39A30BBCF08}"/>
              </a:ext>
            </a:extLst>
          </p:cNvPr>
          <p:cNvSpPr txBox="1"/>
          <p:nvPr/>
        </p:nvSpPr>
        <p:spPr>
          <a:xfrm>
            <a:off x="1154954" y="3429000"/>
            <a:ext cx="4953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800" b="1" dirty="0">
                <a:solidFill>
                  <a:srgbClr val="39FF14"/>
                </a:solidFill>
              </a:rPr>
              <a:t>Build Small.</a:t>
            </a:r>
            <a:r>
              <a:rPr lang="en-US" sz="1800" b="1" dirty="0">
                <a:solidFill>
                  <a:srgbClr val="00C8FF"/>
                </a:solidFill>
              </a:rPr>
              <a:t> Build Sharp.</a:t>
            </a:r>
            <a:r>
              <a:rPr lang="en-US" sz="1800" b="1" dirty="0">
                <a:solidFill>
                  <a:srgbClr val="FFD300"/>
                </a:solidFill>
              </a:rPr>
              <a:t> Build Joyful.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4C5328-D227-BDEE-A694-876A810FEBD7}"/>
              </a:ext>
            </a:extLst>
          </p:cNvPr>
          <p:cNvSpPr txBox="1"/>
          <p:nvPr/>
        </p:nvSpPr>
        <p:spPr>
          <a:xfrm>
            <a:off x="1154954" y="3797300"/>
            <a:ext cx="5537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500" i="1" dirty="0">
                <a:solidFill>
                  <a:srgbClr val="00C8FF"/>
                </a:solidFill>
              </a:rPr>
              <a:t>Where classic vectors meet AI-enabled human joy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E75A5-90B5-86E0-872A-3918FA438306}"/>
              </a:ext>
            </a:extLst>
          </p:cNvPr>
          <p:cNvSpPr txBox="1"/>
          <p:nvPr/>
        </p:nvSpPr>
        <p:spPr>
          <a:xfrm>
            <a:off x="6280183" y="5377951"/>
            <a:ext cx="4953000" cy="736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ts val="1200"/>
              </a:lnSpc>
            </a:pPr>
            <a:r>
              <a:rPr lang="en-US" sz="1600" dirty="0">
                <a:solidFill>
                  <a:srgbClr val="64748B"/>
                </a:solidFill>
                <a:hlinkClick r:id="rId3"/>
              </a:rPr>
              <a:t>https://vectorren.org/</a:t>
            </a:r>
            <a:endParaRPr lang="en-US" sz="1600" dirty="0">
              <a:solidFill>
                <a:srgbClr val="64748B"/>
              </a:solidFill>
            </a:endParaRPr>
          </a:p>
          <a:p>
            <a:pPr>
              <a:lnSpc>
                <a:spcPts val="1200"/>
              </a:lnSpc>
            </a:pP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ts val="1200"/>
              </a:lnSpc>
            </a:pPr>
            <a:r>
              <a:rPr lang="en-US" sz="1600" dirty="0">
                <a:solidFill>
                  <a:schemeClr val="bg1"/>
                </a:solidFill>
                <a:hlinkClick r:id="rId4"/>
              </a:rPr>
              <a:t>https://github.com/dondemcsak/VectorRen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1C6CE-FC33-421B-D254-B416EBAC10A1}"/>
              </a:ext>
            </a:extLst>
          </p:cNvPr>
          <p:cNvSpPr txBox="1"/>
          <p:nvPr/>
        </p:nvSpPr>
        <p:spPr>
          <a:xfrm>
            <a:off x="1137530" y="838201"/>
            <a:ext cx="68674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0"/>
                <a:ea typeface="+mj-ea"/>
                <a:cs typeface="+mj-cs"/>
              </a:rPr>
              <a:t>A Tiny Renaissance Project</a:t>
            </a:r>
            <a:endParaRPr lang="en-US" sz="1200" dirty="0"/>
          </a:p>
        </p:txBody>
      </p:sp>
      <p:sp>
        <p:nvSpPr>
          <p:cNvPr id="15" name="SignoffBox">
            <a:extLst>
              <a:ext uri="{FF2B5EF4-FFF2-40B4-BE49-F238E27FC236}">
                <a16:creationId xmlns:a16="http://schemas.microsoft.com/office/drawing/2014/main" id="{539437BF-E97E-2CE9-910B-D547B0575C66}"/>
              </a:ext>
            </a:extLst>
          </p:cNvPr>
          <p:cNvSpPr>
            <a:spLocks noGrp="1"/>
          </p:cNvSpPr>
          <p:nvPr/>
        </p:nvSpPr>
        <p:spPr>
          <a:xfrm>
            <a:off x="1154954" y="6188113"/>
            <a:ext cx="11173968" cy="3556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</a:rPr>
              <a:t>— Don &amp; Ken  |  Lancaster AI Symposium  |  Questions Welcome</a:t>
            </a:r>
          </a:p>
        </p:txBody>
      </p:sp>
    </p:spTree>
    <p:extLst>
      <p:ext uri="{BB962C8B-B14F-4D97-AF65-F5344CB8AC3E}">
        <p14:creationId xmlns:p14="http://schemas.microsoft.com/office/powerpoint/2010/main" val="29457690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Custom 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39FF14"/>
      </a:accent1>
      <a:accent2>
        <a:srgbClr val="00C8FF"/>
      </a:accent2>
      <a:accent3>
        <a:srgbClr val="FF2DAA"/>
      </a:accent3>
      <a:accent4>
        <a:srgbClr val="FF7A00"/>
      </a:accent4>
      <a:accent5>
        <a:srgbClr val="FFD300"/>
      </a:accent5>
      <a:accent6>
        <a:srgbClr val="D53DD0"/>
      </a:accent6>
      <a:hlink>
        <a:srgbClr val="FFFFFF"/>
      </a:hlink>
      <a:folHlink>
        <a:srgbClr val="FFFFFF"/>
      </a:folHlink>
    </a:clrScheme>
    <a:fontScheme name="Ion Dark Secret Show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 design</Template>
  <TotalTime>0</TotalTime>
  <Words>975</Words>
  <Application>Microsoft Office PowerPoint</Application>
  <PresentationFormat>Widescreen</PresentationFormat>
  <Paragraphs>170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Inter</vt:lpstr>
      <vt:lpstr>Montserrat</vt:lpstr>
      <vt:lpstr>Montserrat ExtraBold</vt:lpstr>
      <vt:lpstr>Wingdings 3</vt:lpstr>
      <vt:lpstr>Ion Boardroom</vt:lpstr>
      <vt:lpstr>Vibe Coding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VectorRen &amp; Vectoroids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2026-04-30T17:37:57Z</dcterms:created>
  <dcterms:modified xsi:type="dcterms:W3CDTF">2026-04-30T17:38:08Z</dcterms:modified>
</cp:coreProperties>
</file>